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Nanum Gothic Coding" panose="020D0009000000000000" pitchFamily="49" charset="-127"/>
      <p:regular r:id="rId19"/>
    </p:embeddedFont>
    <p:embeddedFont>
      <p:font typeface="Nanum Gothic Coding Bold" panose="020D0009000000000000" pitchFamily="49" charset="-127"/>
      <p:regular r:id="rId20"/>
      <p:bold r:id="rId21"/>
    </p:embeddedFont>
    <p:embeddedFont>
      <p:font typeface="Libre Baskerville" panose="02000000000000000000" pitchFamily="2" charset="0"/>
      <p:regular r:id="rId22"/>
      <p:bold r:id="rId23"/>
      <p:italic r:id="rId24"/>
    </p:embeddedFont>
    <p:embeddedFont>
      <p:font typeface="Libre Baskerville Bold" panose="02000000000000000000" pitchFamily="2" charset="0"/>
      <p:regular r:id="rId25"/>
      <p:bold r:id="rId26"/>
    </p:embeddedFont>
    <p:embeddedFont>
      <p:font typeface="Times New Roman Bold" panose="02030802070405020303" pitchFamily="18" charset="77"/>
      <p:regular r:id="rId27"/>
      <p:bold r:id="rId28"/>
    </p:embeddedFont>
    <p:embeddedFont>
      <p:font typeface="Yeseva One" pitchFamily="2" charset="77"/>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95" autoAdjust="0"/>
    <p:restoredTop sz="94637" autoAdjust="0"/>
  </p:normalViewPr>
  <p:slideViewPr>
    <p:cSldViewPr>
      <p:cViewPr varScale="1">
        <p:scale>
          <a:sx n="40" d="100"/>
          <a:sy n="40" d="100"/>
        </p:scale>
        <p:origin x="280" y="20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6/7/24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3" name="Freeform 3"/>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TextBox 2"/>
          <p:cNvSpPr txBox="1"/>
          <p:nvPr/>
        </p:nvSpPr>
        <p:spPr>
          <a:xfrm>
            <a:off x="1028700" y="3041650"/>
            <a:ext cx="16230600" cy="2266949"/>
          </a:xfrm>
          <a:prstGeom prst="rect">
            <a:avLst/>
          </a:prstGeom>
        </p:spPr>
        <p:txBody>
          <a:bodyPr lIns="0" tIns="0" rIns="0" bIns="0" rtlCol="0" anchor="t">
            <a:spAutoFit/>
          </a:bodyPr>
          <a:lstStyle/>
          <a:p>
            <a:pPr algn="ctr">
              <a:lnSpc>
                <a:spcPts val="18750"/>
              </a:lnSpc>
            </a:pPr>
            <a:r>
              <a:rPr lang="en-US" sz="12500" spc="12" dirty="0">
                <a:solidFill>
                  <a:srgbClr val="000000"/>
                </a:solidFill>
                <a:latin typeface="Yeseva One"/>
              </a:rPr>
              <a:t>HALTING PROBLEM</a:t>
            </a:r>
          </a:p>
        </p:txBody>
      </p:sp>
      <p:sp>
        <p:nvSpPr>
          <p:cNvPr id="4" name="Freeform 4"/>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3283182" y="946150"/>
            <a:ext cx="11721636" cy="1114425"/>
          </a:xfrm>
          <a:prstGeom prst="rect">
            <a:avLst/>
          </a:prstGeom>
        </p:spPr>
        <p:txBody>
          <a:bodyPr lIns="0" tIns="0" rIns="0" bIns="0" rtlCol="0" anchor="t">
            <a:spAutoFit/>
          </a:bodyPr>
          <a:lstStyle/>
          <a:p>
            <a:pPr algn="ctr">
              <a:lnSpc>
                <a:spcPts val="4500"/>
              </a:lnSpc>
            </a:pPr>
            <a:r>
              <a:rPr lang="en-US" sz="3000" spc="3">
                <a:solidFill>
                  <a:srgbClr val="000000"/>
                </a:solidFill>
                <a:latin typeface="Libre Baskerville"/>
              </a:rPr>
              <a:t>GEBZE TECHNICAL UNIVERSITY</a:t>
            </a:r>
          </a:p>
          <a:p>
            <a:pPr algn="ctr">
              <a:lnSpc>
                <a:spcPts val="4500"/>
              </a:lnSpc>
            </a:pPr>
            <a:r>
              <a:rPr lang="en-US" sz="3000" spc="3">
                <a:solidFill>
                  <a:srgbClr val="000000"/>
                </a:solidFill>
                <a:latin typeface="Libre Baskerville"/>
              </a:rPr>
              <a:t>THEORY OF COMPUTATION COURSE</a:t>
            </a:r>
          </a:p>
        </p:txBody>
      </p:sp>
      <p:sp>
        <p:nvSpPr>
          <p:cNvPr id="7" name="TextBox 7"/>
          <p:cNvSpPr txBox="1"/>
          <p:nvPr/>
        </p:nvSpPr>
        <p:spPr>
          <a:xfrm>
            <a:off x="3283182" y="7750175"/>
            <a:ext cx="11721636" cy="1943101"/>
          </a:xfrm>
          <a:prstGeom prst="rect">
            <a:avLst/>
          </a:prstGeom>
        </p:spPr>
        <p:txBody>
          <a:bodyPr lIns="0" tIns="0" rIns="0" bIns="0" rtlCol="0" anchor="t">
            <a:spAutoFit/>
          </a:bodyPr>
          <a:lstStyle/>
          <a:p>
            <a:pPr algn="ctr">
              <a:lnSpc>
                <a:spcPts val="5249"/>
              </a:lnSpc>
            </a:pPr>
            <a:r>
              <a:rPr lang="en-US" sz="3499" spc="3">
                <a:solidFill>
                  <a:srgbClr val="000000"/>
                </a:solidFill>
                <a:latin typeface="Libre Baskerville"/>
              </a:rPr>
              <a:t>Presented by </a:t>
            </a:r>
          </a:p>
          <a:p>
            <a:pPr algn="ctr">
              <a:lnSpc>
                <a:spcPts val="5249"/>
              </a:lnSpc>
            </a:pPr>
            <a:r>
              <a:rPr lang="en-US" sz="3499" spc="3">
                <a:solidFill>
                  <a:srgbClr val="000000"/>
                </a:solidFill>
                <a:latin typeface="Libre Baskerville Bold"/>
              </a:rPr>
              <a:t>Muhammed Akif SEVİLGEN</a:t>
            </a:r>
          </a:p>
          <a:p>
            <a:pPr algn="ctr">
              <a:lnSpc>
                <a:spcPts val="5249"/>
              </a:lnSpc>
            </a:pPr>
            <a:r>
              <a:rPr lang="en-US" sz="3499" spc="3">
                <a:solidFill>
                  <a:srgbClr val="000000"/>
                </a:solidFill>
                <a:latin typeface="Libre Baskerville Bold"/>
              </a:rPr>
              <a:t>Çağrı ÇAYCI</a:t>
            </a:r>
          </a:p>
        </p:txBody>
      </p:sp>
      <p:sp>
        <p:nvSpPr>
          <p:cNvPr id="8" name="Freeform 8"/>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4317841"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INTRODUCTION</a:t>
            </a:r>
          </a:p>
        </p:txBody>
      </p:sp>
      <p:sp>
        <p:nvSpPr>
          <p:cNvPr id="7" name="TextBox 7"/>
          <p:cNvSpPr txBox="1"/>
          <p:nvPr/>
        </p:nvSpPr>
        <p:spPr>
          <a:xfrm>
            <a:off x="1028700" y="1781175"/>
            <a:ext cx="16230600" cy="6829426"/>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The Halting Problem is a fundamental concept in </a:t>
            </a:r>
            <a:r>
              <a:rPr lang="en-US" sz="3000" spc="15" dirty="0">
                <a:solidFill>
                  <a:srgbClr val="000000"/>
                </a:solidFill>
                <a:latin typeface="Libre Baskerville Bold"/>
              </a:rPr>
              <a:t>computability theory</a:t>
            </a:r>
            <a:r>
              <a:rPr lang="en-US" sz="3000" spc="15" dirty="0">
                <a:solidFill>
                  <a:srgbClr val="000000"/>
                </a:solidFill>
                <a:latin typeface="Libre Baskerville"/>
              </a:rPr>
              <a:t>, first proved by </a:t>
            </a:r>
            <a:r>
              <a:rPr lang="en-US" sz="3000" spc="15" dirty="0">
                <a:solidFill>
                  <a:srgbClr val="000000"/>
                </a:solidFill>
                <a:latin typeface="Libre Baskerville Bold"/>
              </a:rPr>
              <a:t>Alan Turing</a:t>
            </a:r>
            <a:r>
              <a:rPr lang="en-US" sz="3000" spc="15" dirty="0">
                <a:solidFill>
                  <a:srgbClr val="000000"/>
                </a:solidFill>
                <a:latin typeface="Libre Baskerville"/>
              </a:rPr>
              <a:t> in 1936. Turing introduced the concept of a theoretical computing device known as the </a:t>
            </a:r>
            <a:r>
              <a:rPr lang="en-US" sz="3000" spc="15" dirty="0">
                <a:solidFill>
                  <a:srgbClr val="000000"/>
                </a:solidFill>
                <a:latin typeface="Libre Baskerville Bold"/>
              </a:rPr>
              <a:t>Turing Machine</a:t>
            </a:r>
            <a:r>
              <a:rPr lang="en-US" sz="3000" spc="15" dirty="0">
                <a:solidFill>
                  <a:srgbClr val="000000"/>
                </a:solidFill>
                <a:latin typeface="Libre Baskerville"/>
              </a:rPr>
              <a:t>, which can compute anything that is computable. Turing </a:t>
            </a:r>
            <a:r>
              <a:rPr lang="en-US" sz="3000" spc="15" dirty="0" err="1">
                <a:solidFill>
                  <a:srgbClr val="000000"/>
                </a:solidFill>
                <a:latin typeface="Libre Baskerville"/>
              </a:rPr>
              <a:t>demonstarated</a:t>
            </a:r>
            <a:r>
              <a:rPr lang="en-US" sz="3000" spc="15" dirty="0">
                <a:solidFill>
                  <a:srgbClr val="000000"/>
                </a:solidFill>
                <a:latin typeface="Libre Baskerville"/>
              </a:rPr>
              <a:t> that </a:t>
            </a:r>
            <a:r>
              <a:rPr lang="en-US" sz="3000" spc="15" dirty="0">
                <a:solidFill>
                  <a:srgbClr val="000000"/>
                </a:solidFill>
                <a:latin typeface="Libre Baskerville Bold"/>
              </a:rPr>
              <a:t>no general algorithm</a:t>
            </a:r>
            <a:r>
              <a:rPr lang="en-US" sz="3000" spc="15" dirty="0">
                <a:solidFill>
                  <a:srgbClr val="000000"/>
                </a:solidFill>
                <a:latin typeface="Libre Baskerville"/>
              </a:rPr>
              <a:t> exists that can determine whether any given program, run on a Turing Machine, will halt (stop running) or continue to run forever for a particular input, even with limitless memory and time.</a:t>
            </a:r>
          </a:p>
          <a:p>
            <a:pPr algn="l">
              <a:lnSpc>
                <a:spcPts val="4500"/>
              </a:lnSpc>
            </a:pPr>
            <a:endParaRPr lang="en-US" sz="3000" spc="15" dirty="0">
              <a:solidFill>
                <a:srgbClr val="000000"/>
              </a:solidFill>
              <a:latin typeface="Libre Baskerville"/>
            </a:endParaRPr>
          </a:p>
          <a:p>
            <a:pPr algn="l">
              <a:lnSpc>
                <a:spcPts val="4500"/>
              </a:lnSpc>
            </a:pPr>
            <a:r>
              <a:rPr lang="en-US" sz="3000" spc="15" dirty="0">
                <a:solidFill>
                  <a:srgbClr val="000000"/>
                </a:solidFill>
                <a:latin typeface="Libre Baskerville"/>
              </a:rPr>
              <a:t>Understanding whether a program will halt or run forever is crucial for </a:t>
            </a:r>
            <a:r>
              <a:rPr lang="en-US" sz="3000" spc="15" dirty="0">
                <a:solidFill>
                  <a:srgbClr val="000000"/>
                </a:solidFill>
                <a:latin typeface="Libre Baskerville Bold"/>
              </a:rPr>
              <a:t>managing resources</a:t>
            </a:r>
            <a:r>
              <a:rPr lang="en-US" sz="3000" spc="15" dirty="0">
                <a:solidFill>
                  <a:srgbClr val="000000"/>
                </a:solidFill>
                <a:latin typeface="Libre Baskerville"/>
              </a:rPr>
              <a:t>, </a:t>
            </a:r>
            <a:r>
              <a:rPr lang="en-US" sz="3000" spc="15" dirty="0">
                <a:solidFill>
                  <a:srgbClr val="000000"/>
                </a:solidFill>
                <a:latin typeface="Libre Baskerville Bold"/>
              </a:rPr>
              <a:t>debugging</a:t>
            </a:r>
            <a:r>
              <a:rPr lang="en-US" sz="3000" spc="15" dirty="0">
                <a:solidFill>
                  <a:srgbClr val="000000"/>
                </a:solidFill>
                <a:latin typeface="Libre Baskerville"/>
              </a:rPr>
              <a:t>, </a:t>
            </a:r>
            <a:r>
              <a:rPr lang="en-US" sz="3000" spc="15" dirty="0">
                <a:solidFill>
                  <a:srgbClr val="000000"/>
                </a:solidFill>
                <a:latin typeface="Libre Baskerville Bold"/>
              </a:rPr>
              <a:t>optimizing performance</a:t>
            </a:r>
            <a:r>
              <a:rPr lang="en-US" sz="3000" spc="15" dirty="0">
                <a:solidFill>
                  <a:srgbClr val="000000"/>
                </a:solidFill>
                <a:latin typeface="Libre Baskerville"/>
              </a:rPr>
              <a:t>, </a:t>
            </a:r>
            <a:r>
              <a:rPr lang="en-US" sz="3000" spc="15" dirty="0">
                <a:solidFill>
                  <a:srgbClr val="000000"/>
                </a:solidFill>
                <a:latin typeface="Libre Baskerville Bold"/>
              </a:rPr>
              <a:t>ensuring safety and reliability</a:t>
            </a:r>
            <a:r>
              <a:rPr lang="en-US" sz="3000" spc="15" dirty="0">
                <a:solidFill>
                  <a:srgbClr val="000000"/>
                </a:solidFill>
                <a:latin typeface="Libre Baskerville"/>
              </a:rPr>
              <a:t>, and </a:t>
            </a:r>
            <a:r>
              <a:rPr lang="en-US" sz="3000" spc="15" dirty="0">
                <a:solidFill>
                  <a:srgbClr val="000000"/>
                </a:solidFill>
                <a:latin typeface="Libre Baskerville Bold"/>
              </a:rPr>
              <a:t>enhancing user experience</a:t>
            </a:r>
            <a:r>
              <a:rPr lang="en-US" sz="3000" spc="15" dirty="0">
                <a:solidFill>
                  <a:srgbClr val="000000"/>
                </a:solidFill>
                <a:latin typeface="Libre Baskerville"/>
              </a:rPr>
              <a:t>.</a:t>
            </a:r>
          </a:p>
          <a:p>
            <a:pPr algn="l">
              <a:lnSpc>
                <a:spcPts val="4500"/>
              </a:lnSpc>
            </a:pPr>
            <a:endParaRPr lang="en-US" sz="3000" spc="15" dirty="0">
              <a:solidFill>
                <a:srgbClr val="000000"/>
              </a:solidFill>
              <a:latin typeface="Libre Baskervil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6266736"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INFORMAL DEFINITION</a:t>
            </a:r>
          </a:p>
        </p:txBody>
      </p:sp>
      <p:sp>
        <p:nvSpPr>
          <p:cNvPr id="7" name="TextBox 7"/>
          <p:cNvSpPr txBox="1"/>
          <p:nvPr/>
        </p:nvSpPr>
        <p:spPr>
          <a:xfrm>
            <a:off x="1028700" y="1781175"/>
            <a:ext cx="7296150" cy="5686426"/>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The purpose of the Halting Problem is to inquire about the </a:t>
            </a:r>
            <a:r>
              <a:rPr lang="en-US" sz="3000" spc="15" dirty="0">
                <a:solidFill>
                  <a:srgbClr val="000000"/>
                </a:solidFill>
                <a:latin typeface="Libre Baskerville Bold"/>
              </a:rPr>
              <a:t>existence</a:t>
            </a:r>
            <a:r>
              <a:rPr lang="en-US" sz="3000" spc="15" dirty="0">
                <a:solidFill>
                  <a:srgbClr val="000000"/>
                </a:solidFill>
                <a:latin typeface="Libre Baskerville"/>
              </a:rPr>
              <a:t> of an algorithm capable of determining whether a given program, when provided with a specific input (X), will terminate or continue running indefinitely. This algorithm would ideally return true if the program halts for the input and false if it doesn't.</a:t>
            </a:r>
          </a:p>
        </p:txBody>
      </p:sp>
      <p:grpSp>
        <p:nvGrpSpPr>
          <p:cNvPr id="8" name="Group 8"/>
          <p:cNvGrpSpPr/>
          <p:nvPr/>
        </p:nvGrpSpPr>
        <p:grpSpPr>
          <a:xfrm>
            <a:off x="8610994" y="1866900"/>
            <a:ext cx="8648306" cy="3777116"/>
            <a:chOff x="0" y="0"/>
            <a:chExt cx="11531075" cy="5036154"/>
          </a:xfrm>
        </p:grpSpPr>
        <p:sp>
          <p:nvSpPr>
            <p:cNvPr id="9" name="Freeform 9"/>
            <p:cNvSpPr/>
            <p:nvPr/>
          </p:nvSpPr>
          <p:spPr>
            <a:xfrm>
              <a:off x="0" y="0"/>
              <a:ext cx="11531075" cy="5036154"/>
            </a:xfrm>
            <a:custGeom>
              <a:avLst/>
              <a:gdLst/>
              <a:ahLst/>
              <a:cxnLst/>
              <a:rect l="l" t="t" r="r" b="b"/>
              <a:pathLst>
                <a:path w="11531075" h="5036154">
                  <a:moveTo>
                    <a:pt x="0" y="0"/>
                  </a:moveTo>
                  <a:lnTo>
                    <a:pt x="11531075" y="0"/>
                  </a:lnTo>
                  <a:lnTo>
                    <a:pt x="11531075" y="5036154"/>
                  </a:lnTo>
                  <a:lnTo>
                    <a:pt x="0" y="5036154"/>
                  </a:lnTo>
                  <a:lnTo>
                    <a:pt x="0" y="0"/>
                  </a:lnTo>
                  <a:close/>
                </a:path>
              </a:pathLst>
            </a:custGeom>
            <a:blipFill>
              <a:blip r:embed="rId8"/>
              <a:stretch>
                <a:fillRect r="-20160"/>
              </a:stretch>
            </a:blipFill>
          </p:spPr>
          <p:txBody>
            <a:bodyPr/>
            <a:lstStyle/>
            <a:p>
              <a:endParaRPr lang="en-US"/>
            </a:p>
          </p:txBody>
        </p:sp>
        <p:grpSp>
          <p:nvGrpSpPr>
            <p:cNvPr id="10" name="Group 10"/>
            <p:cNvGrpSpPr/>
            <p:nvPr/>
          </p:nvGrpSpPr>
          <p:grpSpPr>
            <a:xfrm>
              <a:off x="2408700" y="242754"/>
              <a:ext cx="744391" cy="746889"/>
              <a:chOff x="0" y="0"/>
              <a:chExt cx="378460" cy="379730"/>
            </a:xfrm>
          </p:grpSpPr>
          <p:sp>
            <p:nvSpPr>
              <p:cNvPr id="11" name="Freeform 11"/>
              <p:cNvSpPr/>
              <p:nvPr/>
            </p:nvSpPr>
            <p:spPr>
              <a:xfrm>
                <a:off x="49530" y="46990"/>
                <a:ext cx="274320" cy="281940"/>
              </a:xfrm>
              <a:custGeom>
                <a:avLst/>
                <a:gdLst/>
                <a:ahLst/>
                <a:cxnLst/>
                <a:rect l="l" t="t" r="r" b="b"/>
                <a:pathLst>
                  <a:path w="274320" h="281940">
                    <a:moveTo>
                      <a:pt x="274320" y="99060"/>
                    </a:moveTo>
                    <a:cubicBezTo>
                      <a:pt x="274320" y="187960"/>
                      <a:pt x="264160" y="210820"/>
                      <a:pt x="250190" y="227330"/>
                    </a:cubicBezTo>
                    <a:cubicBezTo>
                      <a:pt x="237490" y="243840"/>
                      <a:pt x="217170" y="260350"/>
                      <a:pt x="198120" y="269240"/>
                    </a:cubicBezTo>
                    <a:cubicBezTo>
                      <a:pt x="177800" y="278130"/>
                      <a:pt x="153670" y="281940"/>
                      <a:pt x="132080" y="280670"/>
                    </a:cubicBezTo>
                    <a:cubicBezTo>
                      <a:pt x="110490" y="279400"/>
                      <a:pt x="86360" y="271780"/>
                      <a:pt x="68580" y="260350"/>
                    </a:cubicBezTo>
                    <a:cubicBezTo>
                      <a:pt x="49530" y="250190"/>
                      <a:pt x="31750" y="232410"/>
                      <a:pt x="21590" y="213360"/>
                    </a:cubicBezTo>
                    <a:cubicBezTo>
                      <a:pt x="10160" y="195580"/>
                      <a:pt x="2540" y="171450"/>
                      <a:pt x="1270" y="149860"/>
                    </a:cubicBezTo>
                    <a:cubicBezTo>
                      <a:pt x="0" y="128270"/>
                      <a:pt x="3810" y="104140"/>
                      <a:pt x="12700" y="83820"/>
                    </a:cubicBezTo>
                    <a:cubicBezTo>
                      <a:pt x="21590" y="64770"/>
                      <a:pt x="36830" y="44450"/>
                      <a:pt x="54610" y="31750"/>
                    </a:cubicBezTo>
                    <a:cubicBezTo>
                      <a:pt x="71120" y="17780"/>
                      <a:pt x="93980" y="7620"/>
                      <a:pt x="115570" y="3810"/>
                    </a:cubicBezTo>
                    <a:cubicBezTo>
                      <a:pt x="137160" y="0"/>
                      <a:pt x="161290" y="1270"/>
                      <a:pt x="181610" y="7620"/>
                    </a:cubicBezTo>
                    <a:cubicBezTo>
                      <a:pt x="203200" y="13970"/>
                      <a:pt x="240030" y="41910"/>
                      <a:pt x="240030" y="41910"/>
                    </a:cubicBezTo>
                  </a:path>
                </a:pathLst>
              </a:custGeom>
              <a:solidFill>
                <a:srgbClr val="FFFFFF"/>
              </a:solidFill>
              <a:ln cap="sq">
                <a:noFill/>
                <a:prstDash val="solid"/>
                <a:miter/>
              </a:ln>
            </p:spPr>
            <p:txBody>
              <a:bodyPr/>
              <a:lstStyle/>
              <a:p>
                <a:endParaRPr lang="en-US"/>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6266736"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INFORMAL DEFINITION</a:t>
            </a:r>
          </a:p>
        </p:txBody>
      </p:sp>
      <p:sp>
        <p:nvSpPr>
          <p:cNvPr id="7" name="TextBox 7"/>
          <p:cNvSpPr txBox="1"/>
          <p:nvPr/>
        </p:nvSpPr>
        <p:spPr>
          <a:xfrm>
            <a:off x="1028700" y="1781175"/>
            <a:ext cx="7296150" cy="3971925"/>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For simpler programs, determining their behavior is </a:t>
            </a:r>
            <a:r>
              <a:rPr lang="en-US" sz="3000" spc="15" dirty="0">
                <a:solidFill>
                  <a:srgbClr val="000000"/>
                </a:solidFill>
                <a:latin typeface="Libre Baskerville Bold"/>
              </a:rPr>
              <a:t>straightforward</a:t>
            </a:r>
            <a:r>
              <a:rPr lang="en-US" sz="3000" spc="15" dirty="0">
                <a:solidFill>
                  <a:srgbClr val="000000"/>
                </a:solidFill>
                <a:latin typeface="Libre Baskerville"/>
              </a:rPr>
              <a:t>, as seen in Algorithm 1 and Algorithm 2. However, as algorithms become more complex, the decision-making process also becomes more </a:t>
            </a:r>
            <a:r>
              <a:rPr lang="en-US" sz="3000" spc="15" dirty="0">
                <a:solidFill>
                  <a:srgbClr val="000000"/>
                </a:solidFill>
                <a:latin typeface="Libre Baskerville Bold"/>
              </a:rPr>
              <a:t>intricate</a:t>
            </a:r>
            <a:r>
              <a:rPr lang="en-US" sz="3000" spc="15" dirty="0">
                <a:solidFill>
                  <a:srgbClr val="000000"/>
                </a:solidFill>
                <a:latin typeface="Libre Baskerville"/>
              </a:rPr>
              <a:t>, as illustrated in Algorithm 3.</a:t>
            </a:r>
          </a:p>
        </p:txBody>
      </p:sp>
      <p:sp>
        <p:nvSpPr>
          <p:cNvPr id="8" name="Freeform 8"/>
          <p:cNvSpPr/>
          <p:nvPr/>
        </p:nvSpPr>
        <p:spPr>
          <a:xfrm>
            <a:off x="8610994" y="5076827"/>
            <a:ext cx="8648306" cy="4505701"/>
          </a:xfrm>
          <a:custGeom>
            <a:avLst/>
            <a:gdLst/>
            <a:ahLst/>
            <a:cxnLst/>
            <a:rect l="l" t="t" r="r" b="b"/>
            <a:pathLst>
              <a:path w="8648306" h="4505701">
                <a:moveTo>
                  <a:pt x="0" y="0"/>
                </a:moveTo>
                <a:lnTo>
                  <a:pt x="8648306" y="0"/>
                </a:lnTo>
                <a:lnTo>
                  <a:pt x="8648306" y="4505701"/>
                </a:lnTo>
                <a:lnTo>
                  <a:pt x="0" y="4505701"/>
                </a:lnTo>
                <a:lnTo>
                  <a:pt x="0" y="0"/>
                </a:lnTo>
                <a:close/>
              </a:path>
            </a:pathLst>
          </a:custGeom>
          <a:blipFill>
            <a:blip r:embed="rId8"/>
            <a:stretch>
              <a:fillRect t="-1810" r="-5638" b="-2876"/>
            </a:stretch>
          </a:blipFill>
        </p:spPr>
        <p:txBody>
          <a:bodyPr/>
          <a:lstStyle/>
          <a:p>
            <a:endParaRPr lang="en-US"/>
          </a:p>
        </p:txBody>
      </p:sp>
      <p:sp>
        <p:nvSpPr>
          <p:cNvPr id="9" name="Freeform 9"/>
          <p:cNvSpPr/>
          <p:nvPr/>
        </p:nvSpPr>
        <p:spPr>
          <a:xfrm>
            <a:off x="8610994" y="1260475"/>
            <a:ext cx="8648306" cy="3816352"/>
          </a:xfrm>
          <a:custGeom>
            <a:avLst/>
            <a:gdLst/>
            <a:ahLst/>
            <a:cxnLst/>
            <a:rect l="l" t="t" r="r" b="b"/>
            <a:pathLst>
              <a:path w="8648306" h="3816352">
                <a:moveTo>
                  <a:pt x="0" y="0"/>
                </a:moveTo>
                <a:lnTo>
                  <a:pt x="8648306" y="0"/>
                </a:lnTo>
                <a:lnTo>
                  <a:pt x="8648306" y="3816352"/>
                </a:lnTo>
                <a:lnTo>
                  <a:pt x="0" y="3816352"/>
                </a:lnTo>
                <a:lnTo>
                  <a:pt x="0" y="0"/>
                </a:lnTo>
                <a:close/>
              </a:path>
            </a:pathLst>
          </a:custGeom>
          <a:blipFill>
            <a:blip r:embed="rId9"/>
            <a:stretch>
              <a:fillRect r="-19840"/>
            </a:stretch>
          </a:blipFill>
          <a:ln cap="sq">
            <a:noFill/>
            <a:prstDash val="solid"/>
            <a:miter/>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5658327"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FORMAL DEFINITION</a:t>
            </a:r>
          </a:p>
        </p:txBody>
      </p:sp>
      <p:sp>
        <p:nvSpPr>
          <p:cNvPr id="7" name="TextBox 7"/>
          <p:cNvSpPr txBox="1"/>
          <p:nvPr/>
        </p:nvSpPr>
        <p:spPr>
          <a:xfrm>
            <a:off x="1028700" y="1781175"/>
            <a:ext cx="16230600" cy="5295900"/>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The Halting Problem is formally defined as the set of all pairs ⟨M, w⟩, where M represents a Turing machine and w is an input to that machine, such that M halts on input w. This can be expressed as:</a:t>
            </a:r>
          </a:p>
          <a:p>
            <a:pPr algn="l">
              <a:lnSpc>
                <a:spcPts val="4500"/>
              </a:lnSpc>
            </a:pPr>
            <a:endParaRPr lang="en-US" sz="3000" spc="15" dirty="0">
              <a:solidFill>
                <a:srgbClr val="000000"/>
              </a:solidFill>
              <a:latin typeface="Libre Baskerville"/>
            </a:endParaRPr>
          </a:p>
          <a:p>
            <a:pPr algn="ctr">
              <a:lnSpc>
                <a:spcPts val="5999"/>
              </a:lnSpc>
            </a:pPr>
            <a:r>
              <a:rPr lang="en-US" sz="3999" spc="19" dirty="0">
                <a:solidFill>
                  <a:srgbClr val="000000"/>
                </a:solidFill>
                <a:latin typeface="Times New Roman Bold"/>
              </a:rPr>
              <a:t>HALT</a:t>
            </a:r>
            <a:r>
              <a:rPr lang="en-US" sz="3999" spc="19" dirty="0">
                <a:solidFill>
                  <a:srgbClr val="000000"/>
                </a:solidFill>
                <a:latin typeface="Times New Roman"/>
              </a:rPr>
              <a:t> = {⟨M, w⟩ | M is a Turing machine and halts on input w}</a:t>
            </a:r>
          </a:p>
          <a:p>
            <a:pPr algn="ctr">
              <a:lnSpc>
                <a:spcPts val="4500"/>
              </a:lnSpc>
            </a:pPr>
            <a:endParaRPr lang="en-US" sz="3999" spc="19" dirty="0">
              <a:solidFill>
                <a:srgbClr val="000000"/>
              </a:solidFill>
              <a:latin typeface="Times New Roman"/>
            </a:endParaRPr>
          </a:p>
          <a:p>
            <a:pPr algn="l">
              <a:lnSpc>
                <a:spcPts val="4500"/>
              </a:lnSpc>
            </a:pPr>
            <a:r>
              <a:rPr lang="en-US" sz="3000" spc="15" dirty="0">
                <a:solidFill>
                  <a:srgbClr val="000000"/>
                </a:solidFill>
                <a:latin typeface="Libre Baskerville"/>
              </a:rPr>
              <a:t>The essence of the Halting Problem lies in asserting the nonexistence of a universal algorithm capable of determining membership in this language HALT, for all possible </a:t>
            </a:r>
            <a:r>
              <a:rPr lang="en-US" sz="3000" spc="15" dirty="0" err="1">
                <a:solidFill>
                  <a:srgbClr val="000000"/>
                </a:solidFill>
                <a:latin typeface="Libre Baskerville"/>
              </a:rPr>
              <a:t>M,w</a:t>
            </a:r>
            <a:r>
              <a:rPr lang="en-US" sz="3000" spc="15" dirty="0">
                <a:solidFill>
                  <a:srgbClr val="000000"/>
                </a:solidFill>
                <a:latin typeface="Libre Baskerville"/>
              </a:rPr>
              <a:t> pairs.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6016069" cy="460375"/>
          </a:xfrm>
          <a:prstGeom prst="rect">
            <a:avLst/>
          </a:prstGeom>
        </p:spPr>
        <p:txBody>
          <a:bodyPr lIns="0" tIns="0" rIns="0" bIns="0" rtlCol="0" anchor="t">
            <a:spAutoFit/>
          </a:bodyPr>
          <a:lstStyle/>
          <a:p>
            <a:pPr algn="l">
              <a:lnSpc>
                <a:spcPts val="3499"/>
              </a:lnSpc>
              <a:spcBef>
                <a:spcPct val="0"/>
              </a:spcBef>
            </a:pPr>
            <a:r>
              <a:rPr lang="en-US" sz="3499" dirty="0">
                <a:solidFill>
                  <a:srgbClr val="000000"/>
                </a:solidFill>
                <a:latin typeface="Libre Baskerville Bold"/>
              </a:rPr>
              <a:t>PROOF BY REDUCTION</a:t>
            </a:r>
          </a:p>
        </p:txBody>
      </p:sp>
      <p:sp>
        <p:nvSpPr>
          <p:cNvPr id="7" name="TextBox 7"/>
          <p:cNvSpPr txBox="1"/>
          <p:nvPr/>
        </p:nvSpPr>
        <p:spPr>
          <a:xfrm>
            <a:off x="1028700" y="1781175"/>
            <a:ext cx="16230600" cy="6029325"/>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Bold"/>
              </a:rPr>
              <a:t>Acceptance problem</a:t>
            </a:r>
            <a:r>
              <a:rPr lang="en-US" sz="3000" spc="15" dirty="0">
                <a:solidFill>
                  <a:srgbClr val="000000"/>
                </a:solidFill>
                <a:latin typeface="Libre Baskerville"/>
              </a:rPr>
              <a:t> involves determining whether there exists an </a:t>
            </a:r>
            <a:r>
              <a:rPr lang="en-US" sz="3000" spc="15" dirty="0" err="1">
                <a:solidFill>
                  <a:srgbClr val="000000"/>
                </a:solidFill>
                <a:latin typeface="Libre Baskerville"/>
              </a:rPr>
              <a:t>alogrithm</a:t>
            </a:r>
            <a:r>
              <a:rPr lang="en-US" sz="3000" spc="15" dirty="0">
                <a:solidFill>
                  <a:srgbClr val="000000"/>
                </a:solidFill>
                <a:latin typeface="Libre Baskerville"/>
              </a:rPr>
              <a:t> that, given a Turing Machine M and an input w, can decide whether M will halt and accept w. It can be expressed as follows;</a:t>
            </a:r>
          </a:p>
          <a:p>
            <a:pPr algn="l">
              <a:lnSpc>
                <a:spcPts val="4500"/>
              </a:lnSpc>
            </a:pPr>
            <a:endParaRPr lang="en-US" sz="3000" spc="15" dirty="0">
              <a:solidFill>
                <a:srgbClr val="000000"/>
              </a:solidFill>
              <a:latin typeface="Libre Baskerville"/>
            </a:endParaRPr>
          </a:p>
          <a:p>
            <a:pPr algn="ctr">
              <a:lnSpc>
                <a:spcPts val="5999"/>
              </a:lnSpc>
            </a:pPr>
            <a:r>
              <a:rPr lang="en-US" sz="3999" spc="19" dirty="0">
                <a:solidFill>
                  <a:srgbClr val="000000"/>
                </a:solidFill>
                <a:latin typeface="Times New Roman Bold"/>
              </a:rPr>
              <a:t>ATM</a:t>
            </a:r>
            <a:r>
              <a:rPr lang="en-US" sz="3999" spc="19" dirty="0">
                <a:solidFill>
                  <a:srgbClr val="000000"/>
                </a:solidFill>
                <a:latin typeface="Times New Roman"/>
              </a:rPr>
              <a:t>= {⟨M, w⟩ | M is a Turing machine and accepts input w} </a:t>
            </a:r>
          </a:p>
          <a:p>
            <a:pPr algn="l">
              <a:lnSpc>
                <a:spcPts val="4500"/>
              </a:lnSpc>
            </a:pPr>
            <a:endParaRPr lang="en-US" sz="3999" spc="19" dirty="0">
              <a:solidFill>
                <a:srgbClr val="000000"/>
              </a:solidFill>
              <a:latin typeface="Times New Roman"/>
            </a:endParaRPr>
          </a:p>
          <a:p>
            <a:pPr algn="l">
              <a:lnSpc>
                <a:spcPts val="4500"/>
              </a:lnSpc>
            </a:pPr>
            <a:r>
              <a:rPr lang="en-US" sz="3000" spc="15" dirty="0">
                <a:solidFill>
                  <a:srgbClr val="000000"/>
                </a:solidFill>
                <a:latin typeface="Libre Baskerville"/>
              </a:rPr>
              <a:t>However, it has been proven that the acceptance problem is undecidable, meaning no such algorithm can exists to accomplish this task. To prove HALT is undecidable, ATM will be reduced to HALT.</a:t>
            </a:r>
          </a:p>
          <a:p>
            <a:pPr algn="l">
              <a:lnSpc>
                <a:spcPts val="5999"/>
              </a:lnSpc>
            </a:pPr>
            <a:endParaRPr lang="en-US" sz="3000" spc="15" dirty="0">
              <a:solidFill>
                <a:srgbClr val="000000"/>
              </a:solidFill>
              <a:latin typeface="Libre Baskervil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11986548" y="1797103"/>
            <a:ext cx="6067882" cy="3346397"/>
          </a:xfrm>
          <a:custGeom>
            <a:avLst/>
            <a:gdLst/>
            <a:ahLst/>
            <a:cxnLst/>
            <a:rect l="l" t="t" r="r" b="b"/>
            <a:pathLst>
              <a:path w="6067882" h="3346397">
                <a:moveTo>
                  <a:pt x="0" y="0"/>
                </a:moveTo>
                <a:lnTo>
                  <a:pt x="6067882" y="0"/>
                </a:lnTo>
                <a:lnTo>
                  <a:pt x="6067882" y="3346397"/>
                </a:lnTo>
                <a:lnTo>
                  <a:pt x="0" y="3346397"/>
                </a:lnTo>
                <a:lnTo>
                  <a:pt x="0" y="0"/>
                </a:lnTo>
                <a:close/>
              </a:path>
            </a:pathLst>
          </a:custGeom>
          <a:blipFill>
            <a:blip r:embed="rId8"/>
            <a:stretch>
              <a:fillRect t="-22940" r="-70934"/>
            </a:stretch>
          </a:blipFill>
        </p:spPr>
        <p:txBody>
          <a:bodyPr/>
          <a:lstStyle/>
          <a:p>
            <a:endParaRPr lang="en-US"/>
          </a:p>
        </p:txBody>
      </p:sp>
      <p:sp>
        <p:nvSpPr>
          <p:cNvPr id="7" name="Freeform 7"/>
          <p:cNvSpPr/>
          <p:nvPr/>
        </p:nvSpPr>
        <p:spPr>
          <a:xfrm>
            <a:off x="11986548" y="5586599"/>
            <a:ext cx="6067882" cy="4150522"/>
          </a:xfrm>
          <a:custGeom>
            <a:avLst/>
            <a:gdLst/>
            <a:ahLst/>
            <a:cxnLst/>
            <a:rect l="l" t="t" r="r" b="b"/>
            <a:pathLst>
              <a:path w="6067882" h="4150522">
                <a:moveTo>
                  <a:pt x="0" y="0"/>
                </a:moveTo>
                <a:lnTo>
                  <a:pt x="6067882" y="0"/>
                </a:lnTo>
                <a:lnTo>
                  <a:pt x="6067882" y="4150522"/>
                </a:lnTo>
                <a:lnTo>
                  <a:pt x="0" y="4150522"/>
                </a:lnTo>
                <a:lnTo>
                  <a:pt x="0" y="0"/>
                </a:lnTo>
                <a:close/>
              </a:path>
            </a:pathLst>
          </a:custGeom>
          <a:blipFill>
            <a:blip r:embed="rId9"/>
            <a:stretch>
              <a:fillRect t="-19157" r="-67805"/>
            </a:stretch>
          </a:blipFill>
        </p:spPr>
        <p:txBody>
          <a:bodyPr/>
          <a:lstStyle/>
          <a:p>
            <a:endParaRPr lang="en-US"/>
          </a:p>
        </p:txBody>
      </p:sp>
      <p:sp>
        <p:nvSpPr>
          <p:cNvPr id="8" name="TextBox 8"/>
          <p:cNvSpPr txBox="1"/>
          <p:nvPr/>
        </p:nvSpPr>
        <p:spPr>
          <a:xfrm>
            <a:off x="1028700" y="1781175"/>
            <a:ext cx="10957848" cy="9686926"/>
          </a:xfrm>
          <a:prstGeom prst="rect">
            <a:avLst/>
          </a:prstGeom>
        </p:spPr>
        <p:txBody>
          <a:bodyPr lIns="0" tIns="0" rIns="0" bIns="0" rtlCol="0" anchor="t">
            <a:spAutoFit/>
          </a:bodyPr>
          <a:lstStyle/>
          <a:p>
            <a:pPr marL="647700" lvl="1" indent="-323850" algn="l">
              <a:lnSpc>
                <a:spcPts val="4500"/>
              </a:lnSpc>
              <a:buAutoNum type="arabicPeriod"/>
            </a:pPr>
            <a:r>
              <a:rPr lang="en-US" sz="3000" spc="15" dirty="0">
                <a:solidFill>
                  <a:srgbClr val="000000"/>
                </a:solidFill>
                <a:latin typeface="Libre Baskerville"/>
              </a:rPr>
              <a:t>Assume that Halting problem is decidable, means there is TM </a:t>
            </a:r>
            <a:r>
              <a:rPr lang="en-US" sz="3000" spc="15" dirty="0">
                <a:solidFill>
                  <a:srgbClr val="000000"/>
                </a:solidFill>
                <a:latin typeface="Libre Baskerville Bold"/>
              </a:rPr>
              <a:t>H</a:t>
            </a:r>
            <a:r>
              <a:rPr lang="en-US" sz="3000" spc="15" dirty="0">
                <a:solidFill>
                  <a:srgbClr val="000000"/>
                </a:solidFill>
                <a:latin typeface="Libre Baskerville"/>
              </a:rPr>
              <a:t>, that decides whether a TM halts or runs forever for an input.</a:t>
            </a:r>
          </a:p>
          <a:p>
            <a:pPr marL="647700" lvl="1" indent="-323850" algn="l">
              <a:lnSpc>
                <a:spcPts val="4500"/>
              </a:lnSpc>
              <a:buAutoNum type="arabicPeriod"/>
            </a:pPr>
            <a:r>
              <a:rPr lang="en-US" sz="3000" spc="15" dirty="0">
                <a:solidFill>
                  <a:srgbClr val="000000"/>
                </a:solidFill>
                <a:latin typeface="Libre Baskerville"/>
              </a:rPr>
              <a:t>Consider a new machine </a:t>
            </a:r>
            <a:r>
              <a:rPr lang="en-US" sz="3000" spc="15" dirty="0">
                <a:solidFill>
                  <a:srgbClr val="000000"/>
                </a:solidFill>
                <a:latin typeface="Libre Baskerville Bold"/>
              </a:rPr>
              <a:t>f(M) </a:t>
            </a:r>
            <a:r>
              <a:rPr lang="en-US" sz="3000" spc="15" dirty="0">
                <a:solidFill>
                  <a:srgbClr val="000000"/>
                </a:solidFill>
                <a:latin typeface="Libre Baskerville"/>
              </a:rPr>
              <a:t>which gets M and w as input;</a:t>
            </a:r>
          </a:p>
          <a:p>
            <a:pPr marL="1295400" lvl="2" indent="-431800" algn="l">
              <a:lnSpc>
                <a:spcPts val="4500"/>
              </a:lnSpc>
              <a:buFont typeface="Arial"/>
              <a:buChar char="⚬"/>
            </a:pPr>
            <a:r>
              <a:rPr lang="en-US" sz="3000" spc="15" dirty="0">
                <a:solidFill>
                  <a:srgbClr val="000000"/>
                </a:solidFill>
                <a:latin typeface="Libre Baskerville"/>
              </a:rPr>
              <a:t>Accept if M accept w.</a:t>
            </a:r>
          </a:p>
          <a:p>
            <a:pPr marL="1295400" lvl="2" indent="-431800" algn="l">
              <a:lnSpc>
                <a:spcPts val="4500"/>
              </a:lnSpc>
              <a:buFont typeface="Arial"/>
              <a:buChar char="⚬"/>
            </a:pPr>
            <a:r>
              <a:rPr lang="en-US" sz="3000" spc="15" dirty="0">
                <a:solidFill>
                  <a:srgbClr val="000000"/>
                </a:solidFill>
                <a:latin typeface="Libre Baskerville"/>
              </a:rPr>
              <a:t>Otherwise, reject.</a:t>
            </a:r>
          </a:p>
          <a:p>
            <a:pPr marL="647700" lvl="1" indent="-323850" algn="l">
              <a:lnSpc>
                <a:spcPts val="4500"/>
              </a:lnSpc>
              <a:buAutoNum type="arabicPeriod"/>
            </a:pPr>
            <a:r>
              <a:rPr lang="en-US" sz="3000" spc="15" dirty="0">
                <a:solidFill>
                  <a:srgbClr val="000000"/>
                </a:solidFill>
                <a:latin typeface="Libre Baskerville"/>
              </a:rPr>
              <a:t>Consider a new machine </a:t>
            </a:r>
            <a:r>
              <a:rPr lang="en-US" sz="3000" spc="15" dirty="0">
                <a:solidFill>
                  <a:srgbClr val="000000"/>
                </a:solidFill>
                <a:latin typeface="Libre Baskerville Bold"/>
              </a:rPr>
              <a:t>T</a:t>
            </a:r>
            <a:r>
              <a:rPr lang="en-US" sz="3000" spc="15" dirty="0">
                <a:solidFill>
                  <a:srgbClr val="000000"/>
                </a:solidFill>
                <a:latin typeface="Libre Baskerville"/>
              </a:rPr>
              <a:t>.</a:t>
            </a:r>
          </a:p>
          <a:p>
            <a:pPr marL="1295400" lvl="2" indent="-431800" algn="l">
              <a:lnSpc>
                <a:spcPts val="4500"/>
              </a:lnSpc>
              <a:buFont typeface="Arial"/>
              <a:buChar char="⚬"/>
            </a:pPr>
            <a:r>
              <a:rPr lang="en-US" sz="3000" spc="15" dirty="0">
                <a:solidFill>
                  <a:srgbClr val="000000"/>
                </a:solidFill>
                <a:latin typeface="Libre Baskerville"/>
              </a:rPr>
              <a:t>If H accepts &lt;f(M), w&gt;, it means f(M) halts on input w. Therefore, M accepts w.</a:t>
            </a:r>
          </a:p>
          <a:p>
            <a:pPr marL="1295400" lvl="2" indent="-431800" algn="l">
              <a:lnSpc>
                <a:spcPts val="4500"/>
              </a:lnSpc>
              <a:buFont typeface="Arial"/>
              <a:buChar char="⚬"/>
            </a:pPr>
            <a:r>
              <a:rPr lang="en-US" sz="3000" spc="15" dirty="0">
                <a:solidFill>
                  <a:srgbClr val="000000"/>
                </a:solidFill>
                <a:latin typeface="Libre Baskerville"/>
              </a:rPr>
              <a:t>If H rejects  &lt;f(M), w&gt;, it means f(M) does not halt on input w. Therefore M does not accept w.</a:t>
            </a:r>
          </a:p>
          <a:p>
            <a:pPr algn="l">
              <a:lnSpc>
                <a:spcPts val="4500"/>
              </a:lnSpc>
            </a:pPr>
            <a:r>
              <a:rPr lang="en-US" sz="3000" spc="15" dirty="0">
                <a:solidFill>
                  <a:srgbClr val="000000"/>
                </a:solidFill>
                <a:latin typeface="Libre Baskerville"/>
              </a:rPr>
              <a:t>A hypothetical decider is created for Acceptance Problem, However, Acceptance Problem is undecidable, which is a contradiction.</a:t>
            </a:r>
          </a:p>
          <a:p>
            <a:pPr algn="l">
              <a:lnSpc>
                <a:spcPts val="4500"/>
              </a:lnSpc>
            </a:pPr>
            <a:endParaRPr lang="en-US" sz="3000" spc="15" dirty="0">
              <a:solidFill>
                <a:srgbClr val="000000"/>
              </a:solidFill>
              <a:latin typeface="Libre Baskerville"/>
            </a:endParaRPr>
          </a:p>
          <a:p>
            <a:pPr algn="l">
              <a:lnSpc>
                <a:spcPts val="4500"/>
              </a:lnSpc>
            </a:pPr>
            <a:endParaRPr lang="en-US" sz="3000" spc="15" dirty="0">
              <a:solidFill>
                <a:srgbClr val="000000"/>
              </a:solidFill>
              <a:latin typeface="Libre Baskerville"/>
            </a:endParaRPr>
          </a:p>
        </p:txBody>
      </p:sp>
      <p:sp>
        <p:nvSpPr>
          <p:cNvPr id="9" name="TextBox 9"/>
          <p:cNvSpPr txBox="1"/>
          <p:nvPr/>
        </p:nvSpPr>
        <p:spPr>
          <a:xfrm>
            <a:off x="1028700" y="1095375"/>
            <a:ext cx="6016069"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PROOF BY REDUCTION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2731152" y="5185067"/>
            <a:ext cx="12825696" cy="3844633"/>
          </a:xfrm>
          <a:custGeom>
            <a:avLst/>
            <a:gdLst/>
            <a:ahLst/>
            <a:cxnLst/>
            <a:rect l="l" t="t" r="r" b="b"/>
            <a:pathLst>
              <a:path w="12825696" h="3844633">
                <a:moveTo>
                  <a:pt x="0" y="0"/>
                </a:moveTo>
                <a:lnTo>
                  <a:pt x="12825696" y="0"/>
                </a:lnTo>
                <a:lnTo>
                  <a:pt x="12825696" y="3844633"/>
                </a:lnTo>
                <a:lnTo>
                  <a:pt x="0" y="3844633"/>
                </a:lnTo>
                <a:lnTo>
                  <a:pt x="0" y="0"/>
                </a:lnTo>
                <a:close/>
              </a:path>
            </a:pathLst>
          </a:custGeom>
          <a:blipFill>
            <a:blip r:embed="rId8"/>
            <a:stretch>
              <a:fillRect/>
            </a:stretch>
          </a:blipFill>
        </p:spPr>
        <p:txBody>
          <a:bodyPr/>
          <a:lstStyle/>
          <a:p>
            <a:endParaRPr lang="en-US"/>
          </a:p>
        </p:txBody>
      </p:sp>
      <p:sp>
        <p:nvSpPr>
          <p:cNvPr id="7" name="TextBox 7"/>
          <p:cNvSpPr txBox="1"/>
          <p:nvPr/>
        </p:nvSpPr>
        <p:spPr>
          <a:xfrm>
            <a:off x="1028700" y="1095375"/>
            <a:ext cx="7933452"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PROOF BY DIAGONALIZATION</a:t>
            </a:r>
          </a:p>
        </p:txBody>
      </p:sp>
      <p:sp>
        <p:nvSpPr>
          <p:cNvPr id="8" name="TextBox 8"/>
          <p:cNvSpPr txBox="1"/>
          <p:nvPr/>
        </p:nvSpPr>
        <p:spPr>
          <a:xfrm>
            <a:off x="1028700" y="1781175"/>
            <a:ext cx="16230600" cy="2828925"/>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Let's create a table consisting of an infinite number of Turing Machines and an infinite set of inputs, where each row represents a Turing Machine, and each column represents a set of inputs. The cells in this table indicate whether the corresponding Turing Machine accepts, rejects, or does not halt for the corresponding input.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7933452"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PROOF BY DIAGONALIZATION</a:t>
            </a:r>
          </a:p>
        </p:txBody>
      </p:sp>
      <p:sp>
        <p:nvSpPr>
          <p:cNvPr id="7" name="TextBox 7"/>
          <p:cNvSpPr txBox="1"/>
          <p:nvPr/>
        </p:nvSpPr>
        <p:spPr>
          <a:xfrm>
            <a:off x="1028700" y="1781175"/>
            <a:ext cx="16230600" cy="1685925"/>
          </a:xfrm>
          <a:prstGeom prst="rect">
            <a:avLst/>
          </a:prstGeom>
        </p:spPr>
        <p:txBody>
          <a:bodyPr lIns="0" tIns="0" rIns="0" bIns="0" rtlCol="0" anchor="t">
            <a:spAutoFit/>
          </a:bodyPr>
          <a:lstStyle/>
          <a:p>
            <a:pPr algn="l">
              <a:lnSpc>
                <a:spcPts val="4500"/>
              </a:lnSpc>
            </a:pPr>
            <a:r>
              <a:rPr lang="en-US" sz="3000" spc="15">
                <a:solidFill>
                  <a:srgbClr val="000000"/>
                </a:solidFill>
                <a:latin typeface="Libre Baskerville"/>
              </a:rPr>
              <a:t>Let's assume there is a Turing Machine, named H, that can determine for all possible inputs whether a given Turing Machine M will accept an input w. We can represent this in a table that shows the behavior of H as follows:</a:t>
            </a:r>
          </a:p>
        </p:txBody>
      </p:sp>
      <p:sp>
        <p:nvSpPr>
          <p:cNvPr id="8" name="Freeform 8"/>
          <p:cNvSpPr/>
          <p:nvPr/>
        </p:nvSpPr>
        <p:spPr>
          <a:xfrm>
            <a:off x="2774893" y="4646290"/>
            <a:ext cx="12700114" cy="4383410"/>
          </a:xfrm>
          <a:custGeom>
            <a:avLst/>
            <a:gdLst/>
            <a:ahLst/>
            <a:cxnLst/>
            <a:rect l="l" t="t" r="r" b="b"/>
            <a:pathLst>
              <a:path w="12700114" h="4383410">
                <a:moveTo>
                  <a:pt x="0" y="0"/>
                </a:moveTo>
                <a:lnTo>
                  <a:pt x="12700114" y="0"/>
                </a:lnTo>
                <a:lnTo>
                  <a:pt x="12700114" y="4383410"/>
                </a:lnTo>
                <a:lnTo>
                  <a:pt x="0" y="4383410"/>
                </a:lnTo>
                <a:lnTo>
                  <a:pt x="0" y="0"/>
                </a:lnTo>
                <a:close/>
              </a:path>
            </a:pathLst>
          </a:custGeom>
          <a:blipFill>
            <a:blip r:embed="rId8"/>
            <a:stretch>
              <a:fillRect t="-6195" b="-2786"/>
            </a:stretch>
          </a:blipFill>
          <a:ln cap="sq">
            <a:noFill/>
            <a:prstDash val="solid"/>
            <a:miter/>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4931524" y="3575775"/>
            <a:ext cx="8424952" cy="1115076"/>
          </a:xfrm>
          <a:custGeom>
            <a:avLst/>
            <a:gdLst/>
            <a:ahLst/>
            <a:cxnLst/>
            <a:rect l="l" t="t" r="r" b="b"/>
            <a:pathLst>
              <a:path w="8424952" h="1115076">
                <a:moveTo>
                  <a:pt x="0" y="0"/>
                </a:moveTo>
                <a:lnTo>
                  <a:pt x="8424952" y="0"/>
                </a:lnTo>
                <a:lnTo>
                  <a:pt x="8424952" y="1115077"/>
                </a:lnTo>
                <a:lnTo>
                  <a:pt x="0" y="1115077"/>
                </a:lnTo>
                <a:lnTo>
                  <a:pt x="0" y="0"/>
                </a:lnTo>
                <a:close/>
              </a:path>
            </a:pathLst>
          </a:custGeom>
          <a:blipFill>
            <a:blip r:embed="rId8"/>
            <a:stretch>
              <a:fillRect l="-14809"/>
            </a:stretch>
          </a:blipFill>
        </p:spPr>
        <p:txBody>
          <a:bodyPr/>
          <a:lstStyle/>
          <a:p>
            <a:endParaRPr lang="en-US"/>
          </a:p>
        </p:txBody>
      </p:sp>
      <p:sp>
        <p:nvSpPr>
          <p:cNvPr id="7" name="TextBox 7"/>
          <p:cNvSpPr txBox="1"/>
          <p:nvPr/>
        </p:nvSpPr>
        <p:spPr>
          <a:xfrm>
            <a:off x="1028700" y="1095375"/>
            <a:ext cx="7933452"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PROOF BY DIAGONALIZATION</a:t>
            </a:r>
          </a:p>
        </p:txBody>
      </p:sp>
      <p:sp>
        <p:nvSpPr>
          <p:cNvPr id="8" name="TextBox 8"/>
          <p:cNvSpPr txBox="1"/>
          <p:nvPr/>
        </p:nvSpPr>
        <p:spPr>
          <a:xfrm>
            <a:off x="1028700" y="1781175"/>
            <a:ext cx="16230600" cy="1685925"/>
          </a:xfrm>
          <a:prstGeom prst="rect">
            <a:avLst/>
          </a:prstGeom>
        </p:spPr>
        <p:txBody>
          <a:bodyPr lIns="0" tIns="0" rIns="0" bIns="0" rtlCol="0" anchor="t">
            <a:spAutoFit/>
          </a:bodyPr>
          <a:lstStyle/>
          <a:p>
            <a:pPr algn="l">
              <a:lnSpc>
                <a:spcPts val="4500"/>
              </a:lnSpc>
            </a:pPr>
            <a:r>
              <a:rPr lang="en-US" sz="3000" spc="15">
                <a:solidFill>
                  <a:srgbClr val="000000"/>
                </a:solidFill>
                <a:latin typeface="Libre Baskerville"/>
              </a:rPr>
              <a:t>Assuming the existence of a Turing Machine H, we can also assume the existence of another Turing Machine D. Machine D takes the description of a Turing Machine as input and returns the reverse of the entry in the table of H.</a:t>
            </a:r>
          </a:p>
        </p:txBody>
      </p:sp>
      <p:sp>
        <p:nvSpPr>
          <p:cNvPr id="9" name="TextBox 9"/>
          <p:cNvSpPr txBox="1"/>
          <p:nvPr/>
        </p:nvSpPr>
        <p:spPr>
          <a:xfrm>
            <a:off x="1028700" y="4700774"/>
            <a:ext cx="16230600" cy="5114925"/>
          </a:xfrm>
          <a:prstGeom prst="rect">
            <a:avLst/>
          </a:prstGeom>
        </p:spPr>
        <p:txBody>
          <a:bodyPr lIns="0" tIns="0" rIns="0" bIns="0" rtlCol="0" anchor="t">
            <a:spAutoFit/>
          </a:bodyPr>
          <a:lstStyle/>
          <a:p>
            <a:pPr algn="l">
              <a:lnSpc>
                <a:spcPts val="4500"/>
              </a:lnSpc>
            </a:pPr>
            <a:r>
              <a:rPr lang="en-US" sz="3000" spc="15">
                <a:solidFill>
                  <a:srgbClr val="000000"/>
                </a:solidFill>
                <a:latin typeface="Libre Baskerville"/>
              </a:rPr>
              <a:t>Consider a scenario where the first table contains all Turing Machines (TMs). One of these TMs, denoted as Mx, must be equal to D. Along the diagonal of Table I, Mx can be in one of three states: accept, reject, or not halt. If Mx accepts in Table I, it would consequently accepts in Table II. However, due to the reverse logic applied, it should then reject in Table III. Conversely, if Mx either rejects or does not halt in Table I, it would reject in Table II. Consequently, it would accept in Table III. This leads to a contradiction because Mx cannot consistently behave in a manner that aligns with the expected outcomes across all tables. Therefore, Mx cannot be equal to D, resulting in a contradiction.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4464844"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TURING’S PROOF</a:t>
            </a:r>
          </a:p>
        </p:txBody>
      </p:sp>
      <p:sp>
        <p:nvSpPr>
          <p:cNvPr id="7" name="TextBox 7"/>
          <p:cNvSpPr txBox="1"/>
          <p:nvPr/>
        </p:nvSpPr>
        <p:spPr>
          <a:xfrm>
            <a:off x="1028700" y="1781175"/>
            <a:ext cx="16230600" cy="2257425"/>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Turing’s proof of the undecidability of the halting problem begins by assuming the existence of a hypothetical halting algorithm H(</a:t>
            </a:r>
            <a:r>
              <a:rPr lang="en-US" sz="3000" spc="15" dirty="0" err="1">
                <a:solidFill>
                  <a:srgbClr val="000000"/>
                </a:solidFill>
                <a:latin typeface="Libre Baskerville"/>
              </a:rPr>
              <a:t>P,x</a:t>
            </a:r>
            <a:r>
              <a:rPr lang="en-US" sz="3000" spc="15" dirty="0">
                <a:solidFill>
                  <a:srgbClr val="000000"/>
                </a:solidFill>
                <a:latin typeface="Libre Baskerville"/>
              </a:rPr>
              <a:t>) that determines whether a program P halts on input x. Turing then constructs a new program D that uses H to determine its own behavior. The program D operates as follows: </a:t>
            </a:r>
          </a:p>
        </p:txBody>
      </p:sp>
      <p:grpSp>
        <p:nvGrpSpPr>
          <p:cNvPr id="13" name="Group 8">
            <a:extLst>
              <a:ext uri="{FF2B5EF4-FFF2-40B4-BE49-F238E27FC236}">
                <a16:creationId xmlns:a16="http://schemas.microsoft.com/office/drawing/2014/main" id="{A8B06B40-9B1F-9E71-372F-5B748DC317BA}"/>
              </a:ext>
            </a:extLst>
          </p:cNvPr>
          <p:cNvGrpSpPr/>
          <p:nvPr/>
        </p:nvGrpSpPr>
        <p:grpSpPr>
          <a:xfrm>
            <a:off x="1028700" y="4457700"/>
            <a:ext cx="16230600" cy="3894652"/>
            <a:chOff x="0" y="0"/>
            <a:chExt cx="21640800" cy="5192870"/>
          </a:xfrm>
        </p:grpSpPr>
        <p:grpSp>
          <p:nvGrpSpPr>
            <p:cNvPr id="14" name="Group 9">
              <a:extLst>
                <a:ext uri="{FF2B5EF4-FFF2-40B4-BE49-F238E27FC236}">
                  <a16:creationId xmlns:a16="http://schemas.microsoft.com/office/drawing/2014/main" id="{1B5F909E-FFA6-3894-406C-101322EF4E8B}"/>
                </a:ext>
              </a:extLst>
            </p:cNvPr>
            <p:cNvGrpSpPr/>
            <p:nvPr/>
          </p:nvGrpSpPr>
          <p:grpSpPr>
            <a:xfrm>
              <a:off x="0" y="0"/>
              <a:ext cx="21640800" cy="5192870"/>
              <a:chOff x="0" y="0"/>
              <a:chExt cx="870604" cy="208908"/>
            </a:xfrm>
          </p:grpSpPr>
          <p:sp>
            <p:nvSpPr>
              <p:cNvPr id="16" name="Freeform 10">
                <a:extLst>
                  <a:ext uri="{FF2B5EF4-FFF2-40B4-BE49-F238E27FC236}">
                    <a16:creationId xmlns:a16="http://schemas.microsoft.com/office/drawing/2014/main" id="{B538EE39-136C-1C85-E35F-18648A963FC8}"/>
                  </a:ext>
                </a:extLst>
              </p:cNvPr>
              <p:cNvSpPr/>
              <p:nvPr/>
            </p:nvSpPr>
            <p:spPr>
              <a:xfrm>
                <a:off x="0" y="0"/>
                <a:ext cx="870604" cy="208908"/>
              </a:xfrm>
              <a:custGeom>
                <a:avLst/>
                <a:gdLst/>
                <a:ahLst/>
                <a:cxnLst/>
                <a:rect l="l" t="t" r="r" b="b"/>
                <a:pathLst>
                  <a:path w="870604" h="208908">
                    <a:moveTo>
                      <a:pt x="104454" y="0"/>
                    </a:moveTo>
                    <a:lnTo>
                      <a:pt x="766150" y="0"/>
                    </a:lnTo>
                    <a:cubicBezTo>
                      <a:pt x="823839" y="0"/>
                      <a:pt x="870604" y="46766"/>
                      <a:pt x="870604" y="104454"/>
                    </a:cubicBezTo>
                    <a:lnTo>
                      <a:pt x="870604" y="104454"/>
                    </a:lnTo>
                    <a:cubicBezTo>
                      <a:pt x="870604" y="132157"/>
                      <a:pt x="859599" y="158725"/>
                      <a:pt x="840010" y="178314"/>
                    </a:cubicBezTo>
                    <a:cubicBezTo>
                      <a:pt x="820421" y="197903"/>
                      <a:pt x="793853" y="208908"/>
                      <a:pt x="766150" y="208908"/>
                    </a:cubicBezTo>
                    <a:lnTo>
                      <a:pt x="104454" y="208908"/>
                    </a:lnTo>
                    <a:cubicBezTo>
                      <a:pt x="76751" y="208908"/>
                      <a:pt x="50183" y="197903"/>
                      <a:pt x="30594" y="178314"/>
                    </a:cubicBezTo>
                    <a:cubicBezTo>
                      <a:pt x="11005" y="158725"/>
                      <a:pt x="0" y="132157"/>
                      <a:pt x="0" y="104454"/>
                    </a:cubicBezTo>
                    <a:lnTo>
                      <a:pt x="0" y="104454"/>
                    </a:lnTo>
                    <a:cubicBezTo>
                      <a:pt x="0" y="76751"/>
                      <a:pt x="11005" y="50183"/>
                      <a:pt x="30594" y="30594"/>
                    </a:cubicBezTo>
                    <a:cubicBezTo>
                      <a:pt x="50183" y="11005"/>
                      <a:pt x="76751" y="0"/>
                      <a:pt x="104454" y="0"/>
                    </a:cubicBezTo>
                    <a:close/>
                  </a:path>
                </a:pathLst>
              </a:custGeom>
              <a:solidFill>
                <a:srgbClr val="FFFFFF"/>
              </a:solidFill>
              <a:ln cap="rnd">
                <a:noFill/>
                <a:prstDash val="solid"/>
                <a:round/>
              </a:ln>
            </p:spPr>
            <p:txBody>
              <a:bodyPr/>
              <a:lstStyle/>
              <a:p>
                <a:endParaRPr lang="en-US"/>
              </a:p>
            </p:txBody>
          </p:sp>
          <p:sp>
            <p:nvSpPr>
              <p:cNvPr id="17" name="TextBox 11">
                <a:extLst>
                  <a:ext uri="{FF2B5EF4-FFF2-40B4-BE49-F238E27FC236}">
                    <a16:creationId xmlns:a16="http://schemas.microsoft.com/office/drawing/2014/main" id="{264447E3-5FB2-1F26-58F4-1444F7C56211}"/>
                  </a:ext>
                </a:extLst>
              </p:cNvPr>
              <p:cNvSpPr txBox="1"/>
              <p:nvPr/>
            </p:nvSpPr>
            <p:spPr>
              <a:xfrm>
                <a:off x="0" y="-57150"/>
                <a:ext cx="870604" cy="266058"/>
              </a:xfrm>
              <a:prstGeom prst="rect">
                <a:avLst/>
              </a:prstGeom>
            </p:spPr>
            <p:txBody>
              <a:bodyPr lIns="47427" tIns="47427" rIns="47427" bIns="47427" rtlCol="0" anchor="ctr"/>
              <a:lstStyle/>
              <a:p>
                <a:pPr algn="ctr">
                  <a:lnSpc>
                    <a:spcPts val="3779"/>
                  </a:lnSpc>
                  <a:spcBef>
                    <a:spcPct val="0"/>
                  </a:spcBef>
                </a:pPr>
                <a:endParaRPr/>
              </a:p>
            </p:txBody>
          </p:sp>
        </p:grpSp>
        <p:sp>
          <p:nvSpPr>
            <p:cNvPr id="15" name="TextBox 12">
              <a:extLst>
                <a:ext uri="{FF2B5EF4-FFF2-40B4-BE49-F238E27FC236}">
                  <a16:creationId xmlns:a16="http://schemas.microsoft.com/office/drawing/2014/main" id="{F38D2B63-086C-2378-3497-599B85569AF5}"/>
                </a:ext>
              </a:extLst>
            </p:cNvPr>
            <p:cNvSpPr txBox="1"/>
            <p:nvPr/>
          </p:nvSpPr>
          <p:spPr>
            <a:xfrm>
              <a:off x="1148380" y="624079"/>
              <a:ext cx="19344039" cy="3957494"/>
            </a:xfrm>
            <a:prstGeom prst="rect">
              <a:avLst/>
            </a:prstGeom>
          </p:spPr>
          <p:txBody>
            <a:bodyPr wrap="square" lIns="0" tIns="0" rIns="0" bIns="0" rtlCol="0" anchor="t">
              <a:spAutoFit/>
            </a:bodyPr>
            <a:lstStyle/>
            <a:p>
              <a:pPr marL="0" lvl="0" indent="0" algn="l">
                <a:lnSpc>
                  <a:spcPts val="3919"/>
                </a:lnSpc>
                <a:spcBef>
                  <a:spcPct val="0"/>
                </a:spcBef>
              </a:pPr>
              <a:r>
                <a:rPr lang="en-US" sz="3000" u="none" strike="noStrike" dirty="0">
                  <a:solidFill>
                    <a:srgbClr val="000000"/>
                  </a:solidFill>
                  <a:latin typeface="Nanum Gothic Coding"/>
                </a:rPr>
                <a:t>D(P) calls H(P,P):</a:t>
              </a:r>
            </a:p>
            <a:p>
              <a:pPr marL="0" lvl="0" indent="0" algn="l">
                <a:lnSpc>
                  <a:spcPts val="3919"/>
                </a:lnSpc>
                <a:spcBef>
                  <a:spcPct val="0"/>
                </a:spcBef>
              </a:pPr>
              <a:r>
                <a:rPr lang="en-US" sz="3000" u="none" strike="noStrike" dirty="0">
                  <a:solidFill>
                    <a:srgbClr val="000000"/>
                  </a:solidFill>
                  <a:latin typeface="Nanum Gothic Coding"/>
                </a:rPr>
                <a:t>If H(P,P) returns true (P halts on P), then D(P) goes into an infinite loop.</a:t>
              </a:r>
            </a:p>
            <a:p>
              <a:pPr marL="0" lvl="0" indent="0" algn="l">
                <a:lnSpc>
                  <a:spcPts val="3919"/>
                </a:lnSpc>
                <a:spcBef>
                  <a:spcPct val="0"/>
                </a:spcBef>
              </a:pPr>
              <a:r>
                <a:rPr lang="en-US" sz="3000" u="none" strike="noStrike" dirty="0">
                  <a:solidFill>
                    <a:srgbClr val="000000"/>
                  </a:solidFill>
                  <a:latin typeface="Nanum Gothic Coding"/>
                </a:rPr>
                <a:t>If H(P,P) returns false (P does not halt on P), then D(P) halts.</a:t>
              </a:r>
            </a:p>
            <a:p>
              <a:pPr marL="0" lvl="0" indent="0" algn="l">
                <a:lnSpc>
                  <a:spcPts val="3919"/>
                </a:lnSpc>
                <a:spcBef>
                  <a:spcPct val="0"/>
                </a:spcBef>
              </a:pPr>
              <a:r>
                <a:rPr lang="en-US" sz="3000" u="none" strike="noStrike" dirty="0">
                  <a:solidFill>
                    <a:srgbClr val="000000"/>
                  </a:solidFill>
                  <a:latin typeface="Nanum Gothic Coding"/>
                </a:rPr>
                <a:t>Now consider what happens when D is given itself as input:</a:t>
              </a:r>
            </a:p>
            <a:p>
              <a:pPr marL="0" lvl="0" indent="0" algn="l">
                <a:lnSpc>
                  <a:spcPts val="3919"/>
                </a:lnSpc>
                <a:spcBef>
                  <a:spcPct val="0"/>
                </a:spcBef>
              </a:pPr>
              <a:r>
                <a:rPr lang="en-US" sz="3000" u="none" strike="noStrike" dirty="0">
                  <a:solidFill>
                    <a:srgbClr val="000000"/>
                  </a:solidFill>
                  <a:latin typeface="Nanum Gothic Coding"/>
                </a:rPr>
                <a:t>If H(D,D) returns true, then D(D) should loop forever (contradiction).</a:t>
              </a:r>
            </a:p>
            <a:p>
              <a:pPr marL="0" lvl="0" indent="0" algn="l">
                <a:lnSpc>
                  <a:spcPts val="3919"/>
                </a:lnSpc>
                <a:spcBef>
                  <a:spcPct val="0"/>
                </a:spcBef>
              </a:pPr>
              <a:r>
                <a:rPr lang="en-US" sz="3000" u="none" strike="noStrike" dirty="0">
                  <a:solidFill>
                    <a:srgbClr val="000000"/>
                  </a:solidFill>
                  <a:latin typeface="Nanum Gothic Coding"/>
                </a:rPr>
                <a:t>If H(D,D) returns false, then D(D) should halt (contradiction).</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38225" y="1095375"/>
            <a:ext cx="6982420"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TURING’S PROOF (CONDT.)</a:t>
            </a:r>
          </a:p>
        </p:txBody>
      </p:sp>
      <p:sp>
        <p:nvSpPr>
          <p:cNvPr id="7" name="TextBox 7"/>
          <p:cNvSpPr txBox="1"/>
          <p:nvPr/>
        </p:nvSpPr>
        <p:spPr>
          <a:xfrm>
            <a:off x="1038225" y="5993801"/>
            <a:ext cx="16230600" cy="2257425"/>
          </a:xfrm>
          <a:prstGeom prst="rect">
            <a:avLst/>
          </a:prstGeom>
        </p:spPr>
        <p:txBody>
          <a:bodyPr lIns="0" tIns="0" rIns="0" bIns="0" rtlCol="0" anchor="t">
            <a:spAutoFit/>
          </a:bodyPr>
          <a:lstStyle/>
          <a:p>
            <a:pPr algn="l">
              <a:lnSpc>
                <a:spcPts val="4500"/>
              </a:lnSpc>
            </a:pPr>
            <a:r>
              <a:rPr lang="en-US" sz="3000" spc="15" dirty="0">
                <a:solidFill>
                  <a:srgbClr val="000000"/>
                </a:solidFill>
                <a:latin typeface="Libre Baskerville"/>
              </a:rPr>
              <a:t>Both cases lead to a contradiction, as the existence of H would mean that D both halts and does not halt when given its own description. This proof shows that the halting problem is undecidable. Therefore, there is no algorithm that can solve the halting problem for all possible program-input pairs.</a:t>
            </a:r>
          </a:p>
        </p:txBody>
      </p:sp>
      <p:grpSp>
        <p:nvGrpSpPr>
          <p:cNvPr id="8" name="Group 8"/>
          <p:cNvGrpSpPr/>
          <p:nvPr/>
        </p:nvGrpSpPr>
        <p:grpSpPr>
          <a:xfrm>
            <a:off x="1028700" y="1870548"/>
            <a:ext cx="16230600" cy="3894652"/>
            <a:chOff x="0" y="0"/>
            <a:chExt cx="21640800" cy="5192870"/>
          </a:xfrm>
        </p:grpSpPr>
        <p:grpSp>
          <p:nvGrpSpPr>
            <p:cNvPr id="9" name="Group 9"/>
            <p:cNvGrpSpPr/>
            <p:nvPr/>
          </p:nvGrpSpPr>
          <p:grpSpPr>
            <a:xfrm>
              <a:off x="0" y="0"/>
              <a:ext cx="21640800" cy="5192870"/>
              <a:chOff x="0" y="0"/>
              <a:chExt cx="870604" cy="208908"/>
            </a:xfrm>
          </p:grpSpPr>
          <p:sp>
            <p:nvSpPr>
              <p:cNvPr id="10" name="Freeform 10"/>
              <p:cNvSpPr/>
              <p:nvPr/>
            </p:nvSpPr>
            <p:spPr>
              <a:xfrm>
                <a:off x="0" y="0"/>
                <a:ext cx="870604" cy="208908"/>
              </a:xfrm>
              <a:custGeom>
                <a:avLst/>
                <a:gdLst/>
                <a:ahLst/>
                <a:cxnLst/>
                <a:rect l="l" t="t" r="r" b="b"/>
                <a:pathLst>
                  <a:path w="870604" h="208908">
                    <a:moveTo>
                      <a:pt x="104454" y="0"/>
                    </a:moveTo>
                    <a:lnTo>
                      <a:pt x="766150" y="0"/>
                    </a:lnTo>
                    <a:cubicBezTo>
                      <a:pt x="823839" y="0"/>
                      <a:pt x="870604" y="46766"/>
                      <a:pt x="870604" y="104454"/>
                    </a:cubicBezTo>
                    <a:lnTo>
                      <a:pt x="870604" y="104454"/>
                    </a:lnTo>
                    <a:cubicBezTo>
                      <a:pt x="870604" y="132157"/>
                      <a:pt x="859599" y="158725"/>
                      <a:pt x="840010" y="178314"/>
                    </a:cubicBezTo>
                    <a:cubicBezTo>
                      <a:pt x="820421" y="197903"/>
                      <a:pt x="793853" y="208908"/>
                      <a:pt x="766150" y="208908"/>
                    </a:cubicBezTo>
                    <a:lnTo>
                      <a:pt x="104454" y="208908"/>
                    </a:lnTo>
                    <a:cubicBezTo>
                      <a:pt x="76751" y="208908"/>
                      <a:pt x="50183" y="197903"/>
                      <a:pt x="30594" y="178314"/>
                    </a:cubicBezTo>
                    <a:cubicBezTo>
                      <a:pt x="11005" y="158725"/>
                      <a:pt x="0" y="132157"/>
                      <a:pt x="0" y="104454"/>
                    </a:cubicBezTo>
                    <a:lnTo>
                      <a:pt x="0" y="104454"/>
                    </a:lnTo>
                    <a:cubicBezTo>
                      <a:pt x="0" y="76751"/>
                      <a:pt x="11005" y="50183"/>
                      <a:pt x="30594" y="30594"/>
                    </a:cubicBezTo>
                    <a:cubicBezTo>
                      <a:pt x="50183" y="11005"/>
                      <a:pt x="76751" y="0"/>
                      <a:pt x="104454" y="0"/>
                    </a:cubicBezTo>
                    <a:close/>
                  </a:path>
                </a:pathLst>
              </a:custGeom>
              <a:solidFill>
                <a:srgbClr val="FFFFFF"/>
              </a:solidFill>
              <a:ln cap="rnd">
                <a:noFill/>
                <a:prstDash val="solid"/>
                <a:round/>
              </a:ln>
            </p:spPr>
            <p:txBody>
              <a:bodyPr/>
              <a:lstStyle/>
              <a:p>
                <a:endParaRPr lang="en-US"/>
              </a:p>
            </p:txBody>
          </p:sp>
          <p:sp>
            <p:nvSpPr>
              <p:cNvPr id="11" name="TextBox 11"/>
              <p:cNvSpPr txBox="1"/>
              <p:nvPr/>
            </p:nvSpPr>
            <p:spPr>
              <a:xfrm>
                <a:off x="0" y="-57150"/>
                <a:ext cx="870604" cy="266058"/>
              </a:xfrm>
              <a:prstGeom prst="rect">
                <a:avLst/>
              </a:prstGeom>
            </p:spPr>
            <p:txBody>
              <a:bodyPr lIns="47427" tIns="47427" rIns="47427" bIns="47427" rtlCol="0" anchor="ctr"/>
              <a:lstStyle/>
              <a:p>
                <a:pPr algn="ctr">
                  <a:lnSpc>
                    <a:spcPts val="3779"/>
                  </a:lnSpc>
                  <a:spcBef>
                    <a:spcPct val="0"/>
                  </a:spcBef>
                </a:pPr>
                <a:endParaRPr/>
              </a:p>
            </p:txBody>
          </p:sp>
        </p:grpSp>
        <p:sp>
          <p:nvSpPr>
            <p:cNvPr id="12" name="TextBox 12"/>
            <p:cNvSpPr txBox="1"/>
            <p:nvPr/>
          </p:nvSpPr>
          <p:spPr>
            <a:xfrm>
              <a:off x="1148380" y="616308"/>
              <a:ext cx="19344040" cy="3957494"/>
            </a:xfrm>
            <a:prstGeom prst="rect">
              <a:avLst/>
            </a:prstGeom>
          </p:spPr>
          <p:txBody>
            <a:bodyPr wrap="square" lIns="0" tIns="0" rIns="0" bIns="0" rtlCol="0" anchor="t">
              <a:spAutoFit/>
            </a:bodyPr>
            <a:lstStyle/>
            <a:p>
              <a:pPr marL="0" lvl="0" indent="0" algn="l">
                <a:lnSpc>
                  <a:spcPts val="3919"/>
                </a:lnSpc>
                <a:spcBef>
                  <a:spcPct val="0"/>
                </a:spcBef>
              </a:pPr>
              <a:r>
                <a:rPr lang="en-US" sz="3000" u="none" strike="noStrike" dirty="0">
                  <a:solidFill>
                    <a:srgbClr val="000000"/>
                  </a:solidFill>
                  <a:latin typeface="Nanum Gothic Coding"/>
                </a:rPr>
                <a:t>D(P) calls H(P,P):</a:t>
              </a:r>
            </a:p>
            <a:p>
              <a:pPr marL="0" lvl="0" indent="0" algn="l">
                <a:lnSpc>
                  <a:spcPts val="3919"/>
                </a:lnSpc>
                <a:spcBef>
                  <a:spcPct val="0"/>
                </a:spcBef>
              </a:pPr>
              <a:r>
                <a:rPr lang="en-US" sz="3000" u="none" strike="noStrike" dirty="0">
                  <a:solidFill>
                    <a:srgbClr val="000000"/>
                  </a:solidFill>
                  <a:latin typeface="Nanum Gothic Coding"/>
                </a:rPr>
                <a:t>If H(P,P) returns true (P halts on P), then D(P) goes into an infinite loop.</a:t>
              </a:r>
            </a:p>
            <a:p>
              <a:pPr marL="0" lvl="0" indent="0" algn="l">
                <a:lnSpc>
                  <a:spcPts val="3919"/>
                </a:lnSpc>
                <a:spcBef>
                  <a:spcPct val="0"/>
                </a:spcBef>
              </a:pPr>
              <a:r>
                <a:rPr lang="en-US" sz="3000" u="none" strike="noStrike" dirty="0">
                  <a:solidFill>
                    <a:srgbClr val="000000"/>
                  </a:solidFill>
                  <a:latin typeface="Nanum Gothic Coding"/>
                </a:rPr>
                <a:t>If H(P,P) returns false (P does not halt on P), then D(P) halts.</a:t>
              </a:r>
            </a:p>
            <a:p>
              <a:pPr marL="0" lvl="0" indent="0" algn="l">
                <a:lnSpc>
                  <a:spcPts val="3919"/>
                </a:lnSpc>
                <a:spcBef>
                  <a:spcPct val="0"/>
                </a:spcBef>
              </a:pPr>
              <a:r>
                <a:rPr lang="en-US" sz="3000" u="none" strike="noStrike" dirty="0">
                  <a:solidFill>
                    <a:srgbClr val="000000"/>
                  </a:solidFill>
                  <a:latin typeface="Nanum Gothic Coding"/>
                </a:rPr>
                <a:t>Now consider what happens when D is given itself as input:</a:t>
              </a:r>
            </a:p>
            <a:p>
              <a:pPr marL="0" lvl="0" indent="0" algn="l">
                <a:lnSpc>
                  <a:spcPts val="3919"/>
                </a:lnSpc>
                <a:spcBef>
                  <a:spcPct val="0"/>
                </a:spcBef>
              </a:pPr>
              <a:r>
                <a:rPr lang="en-US" sz="3000" u="none" strike="noStrike" dirty="0">
                  <a:solidFill>
                    <a:srgbClr val="000000"/>
                  </a:solidFill>
                  <a:latin typeface="Nanum Gothic Coding"/>
                </a:rPr>
                <a:t>If H(D,D) returns true, then D(D) should loop forever (contradiction).</a:t>
              </a:r>
            </a:p>
            <a:p>
              <a:pPr marL="0" lvl="0" indent="0" algn="l">
                <a:lnSpc>
                  <a:spcPts val="3919"/>
                </a:lnSpc>
                <a:spcBef>
                  <a:spcPct val="0"/>
                </a:spcBef>
              </a:pPr>
              <a:r>
                <a:rPr lang="en-US" sz="3000" u="none" strike="noStrike" dirty="0">
                  <a:solidFill>
                    <a:srgbClr val="000000"/>
                  </a:solidFill>
                  <a:latin typeface="Nanum Gothic Coding"/>
                </a:rPr>
                <a:t>If H(D,D) returns false, then D(D) should halt (contradiction).</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12280702"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ANOTHER PROOF: PROOF BY CONTRADICTION</a:t>
            </a:r>
          </a:p>
        </p:txBody>
      </p:sp>
      <p:sp>
        <p:nvSpPr>
          <p:cNvPr id="7" name="TextBox 7"/>
          <p:cNvSpPr txBox="1"/>
          <p:nvPr/>
        </p:nvSpPr>
        <p:spPr>
          <a:xfrm>
            <a:off x="1028700" y="1614674"/>
            <a:ext cx="16230600" cy="2257425"/>
          </a:xfrm>
          <a:prstGeom prst="rect">
            <a:avLst/>
          </a:prstGeom>
        </p:spPr>
        <p:txBody>
          <a:bodyPr lIns="0" tIns="0" rIns="0" bIns="0" rtlCol="0" anchor="t">
            <a:spAutoFit/>
          </a:bodyPr>
          <a:lstStyle/>
          <a:p>
            <a:pPr algn="l">
              <a:lnSpc>
                <a:spcPts val="4500"/>
              </a:lnSpc>
            </a:pPr>
            <a:r>
              <a:rPr lang="en-US" sz="3000" spc="15">
                <a:solidFill>
                  <a:srgbClr val="000000"/>
                </a:solidFill>
                <a:latin typeface="Libre Baskerville"/>
              </a:rPr>
              <a:t>Christopher Strachey outlined a proof by contradiction that the halting problem is not solvable. </a:t>
            </a:r>
          </a:p>
          <a:p>
            <a:pPr algn="l">
              <a:lnSpc>
                <a:spcPts val="4500"/>
              </a:lnSpc>
            </a:pPr>
            <a:r>
              <a:rPr lang="en-US" sz="3000" spc="15">
                <a:solidFill>
                  <a:srgbClr val="000000"/>
                </a:solidFill>
                <a:latin typeface="Libre Baskerville Bold"/>
              </a:rPr>
              <a:t>Assumption:</a:t>
            </a:r>
            <a:r>
              <a:rPr lang="en-US" sz="3000" spc="15">
                <a:solidFill>
                  <a:srgbClr val="000000"/>
                </a:solidFill>
                <a:latin typeface="Libre Baskerville"/>
              </a:rPr>
              <a:t> Suppose that there exists a computable function halts(f) that returns true if the subroutine f halts and returns false otherwise.</a:t>
            </a:r>
          </a:p>
        </p:txBody>
      </p:sp>
      <p:sp>
        <p:nvSpPr>
          <p:cNvPr id="8" name="TextBox 8"/>
          <p:cNvSpPr txBox="1"/>
          <p:nvPr/>
        </p:nvSpPr>
        <p:spPr>
          <a:xfrm>
            <a:off x="1028700" y="6048375"/>
            <a:ext cx="17259300" cy="3448050"/>
          </a:xfrm>
          <a:prstGeom prst="rect">
            <a:avLst/>
          </a:prstGeom>
        </p:spPr>
        <p:txBody>
          <a:bodyPr lIns="0" tIns="0" rIns="0" bIns="0" rtlCol="0" anchor="t">
            <a:spAutoFit/>
          </a:bodyPr>
          <a:lstStyle/>
          <a:p>
            <a:pPr marL="647700" lvl="1" indent="-323850" algn="l">
              <a:lnSpc>
                <a:spcPts val="6000"/>
              </a:lnSpc>
              <a:buFont typeface="Arial"/>
              <a:buChar char="•"/>
            </a:pPr>
            <a:r>
              <a:rPr lang="en-US" sz="3000">
                <a:solidFill>
                  <a:srgbClr val="000000"/>
                </a:solidFill>
                <a:latin typeface="Libre Baskerville"/>
              </a:rPr>
              <a:t>halts(g) must either return true or false</a:t>
            </a:r>
          </a:p>
          <a:p>
            <a:pPr marL="647700" lvl="1" indent="-323850" algn="l">
              <a:lnSpc>
                <a:spcPts val="6000"/>
              </a:lnSpc>
              <a:buFont typeface="Arial"/>
              <a:buChar char="•"/>
            </a:pPr>
            <a:r>
              <a:rPr lang="en-US" sz="3000">
                <a:solidFill>
                  <a:srgbClr val="000000"/>
                </a:solidFill>
                <a:latin typeface="Libre Baskerville"/>
              </a:rPr>
              <a:t>If halts(g) returns true, then g will call loop forever() and never halt (contradiction)</a:t>
            </a:r>
          </a:p>
          <a:p>
            <a:pPr marL="647700" lvl="1" indent="-323850" algn="l">
              <a:lnSpc>
                <a:spcPts val="6000"/>
              </a:lnSpc>
              <a:buFont typeface="Arial"/>
              <a:buChar char="•"/>
            </a:pPr>
            <a:r>
              <a:rPr lang="en-US" sz="3000">
                <a:solidFill>
                  <a:srgbClr val="000000"/>
                </a:solidFill>
                <a:latin typeface="Libre Baskerville"/>
              </a:rPr>
              <a:t>If halts(g) returns false, then g will halt (contradiction)</a:t>
            </a:r>
          </a:p>
          <a:p>
            <a:pPr algn="l">
              <a:lnSpc>
                <a:spcPts val="4500"/>
              </a:lnSpc>
            </a:pPr>
            <a:r>
              <a:rPr lang="en-US" sz="3000">
                <a:solidFill>
                  <a:srgbClr val="000000"/>
                </a:solidFill>
                <a:latin typeface="Libre Baskerville"/>
              </a:rPr>
              <a:t>As a result, g does the opposite of what halts says g should do. Therefore, the initial assumption that halts is a total computable function must be false.</a:t>
            </a:r>
          </a:p>
        </p:txBody>
      </p:sp>
      <p:grpSp>
        <p:nvGrpSpPr>
          <p:cNvPr id="9" name="Group 9"/>
          <p:cNvGrpSpPr/>
          <p:nvPr/>
        </p:nvGrpSpPr>
        <p:grpSpPr>
          <a:xfrm>
            <a:off x="5194688" y="3872099"/>
            <a:ext cx="7898625" cy="2404876"/>
            <a:chOff x="0" y="0"/>
            <a:chExt cx="10531499" cy="3206501"/>
          </a:xfrm>
        </p:grpSpPr>
        <p:grpSp>
          <p:nvGrpSpPr>
            <p:cNvPr id="10" name="Group 10"/>
            <p:cNvGrpSpPr/>
            <p:nvPr/>
          </p:nvGrpSpPr>
          <p:grpSpPr>
            <a:xfrm>
              <a:off x="0" y="0"/>
              <a:ext cx="10531499" cy="3206501"/>
              <a:chOff x="0" y="0"/>
              <a:chExt cx="495645" cy="150908"/>
            </a:xfrm>
          </p:grpSpPr>
          <p:sp>
            <p:nvSpPr>
              <p:cNvPr id="11" name="Freeform 11"/>
              <p:cNvSpPr/>
              <p:nvPr/>
            </p:nvSpPr>
            <p:spPr>
              <a:xfrm>
                <a:off x="0" y="0"/>
                <a:ext cx="495645" cy="150908"/>
              </a:xfrm>
              <a:custGeom>
                <a:avLst/>
                <a:gdLst/>
                <a:ahLst/>
                <a:cxnLst/>
                <a:rect l="l" t="t" r="r" b="b"/>
                <a:pathLst>
                  <a:path w="495645" h="150908">
                    <a:moveTo>
                      <a:pt x="75454" y="0"/>
                    </a:moveTo>
                    <a:lnTo>
                      <a:pt x="420191" y="0"/>
                    </a:lnTo>
                    <a:cubicBezTo>
                      <a:pt x="440203" y="0"/>
                      <a:pt x="459395" y="7950"/>
                      <a:pt x="473546" y="22100"/>
                    </a:cubicBezTo>
                    <a:cubicBezTo>
                      <a:pt x="487696" y="36250"/>
                      <a:pt x="495645" y="55442"/>
                      <a:pt x="495645" y="75454"/>
                    </a:cubicBezTo>
                    <a:lnTo>
                      <a:pt x="495645" y="75454"/>
                    </a:lnTo>
                    <a:cubicBezTo>
                      <a:pt x="495645" y="95466"/>
                      <a:pt x="487696" y="114658"/>
                      <a:pt x="473546" y="128808"/>
                    </a:cubicBezTo>
                    <a:cubicBezTo>
                      <a:pt x="459395" y="142958"/>
                      <a:pt x="440203" y="150908"/>
                      <a:pt x="420191" y="150908"/>
                    </a:cubicBezTo>
                    <a:lnTo>
                      <a:pt x="75454" y="150908"/>
                    </a:lnTo>
                    <a:cubicBezTo>
                      <a:pt x="55442" y="150908"/>
                      <a:pt x="36250" y="142958"/>
                      <a:pt x="22100" y="128808"/>
                    </a:cubicBezTo>
                    <a:cubicBezTo>
                      <a:pt x="7950" y="114658"/>
                      <a:pt x="0" y="95466"/>
                      <a:pt x="0" y="75454"/>
                    </a:cubicBezTo>
                    <a:lnTo>
                      <a:pt x="0" y="75454"/>
                    </a:lnTo>
                    <a:cubicBezTo>
                      <a:pt x="0" y="55442"/>
                      <a:pt x="7950" y="36250"/>
                      <a:pt x="22100" y="22100"/>
                    </a:cubicBezTo>
                    <a:cubicBezTo>
                      <a:pt x="36250" y="7950"/>
                      <a:pt x="55442" y="0"/>
                      <a:pt x="75454" y="0"/>
                    </a:cubicBezTo>
                    <a:close/>
                  </a:path>
                </a:pathLst>
              </a:custGeom>
              <a:solidFill>
                <a:srgbClr val="FFFFFF"/>
              </a:solidFill>
              <a:ln cap="rnd">
                <a:noFill/>
                <a:prstDash val="solid"/>
                <a:round/>
              </a:ln>
            </p:spPr>
            <p:txBody>
              <a:bodyPr/>
              <a:lstStyle/>
              <a:p>
                <a:endParaRPr lang="en-US"/>
              </a:p>
            </p:txBody>
          </p:sp>
          <p:sp>
            <p:nvSpPr>
              <p:cNvPr id="12" name="TextBox 12"/>
              <p:cNvSpPr txBox="1"/>
              <p:nvPr/>
            </p:nvSpPr>
            <p:spPr>
              <a:xfrm>
                <a:off x="0" y="-28575"/>
                <a:ext cx="495645" cy="179483"/>
              </a:xfrm>
              <a:prstGeom prst="rect">
                <a:avLst/>
              </a:prstGeom>
            </p:spPr>
            <p:txBody>
              <a:bodyPr lIns="40541" tIns="40541" rIns="40541" bIns="40541" rtlCol="0" anchor="ctr"/>
              <a:lstStyle/>
              <a:p>
                <a:pPr algn="ctr">
                  <a:lnSpc>
                    <a:spcPts val="2659"/>
                  </a:lnSpc>
                  <a:spcBef>
                    <a:spcPct val="0"/>
                  </a:spcBef>
                </a:pPr>
                <a:endParaRPr/>
              </a:p>
            </p:txBody>
          </p:sp>
        </p:grpSp>
        <p:sp>
          <p:nvSpPr>
            <p:cNvPr id="13" name="TextBox 13"/>
            <p:cNvSpPr txBox="1"/>
            <p:nvPr/>
          </p:nvSpPr>
          <p:spPr>
            <a:xfrm>
              <a:off x="1371377" y="135564"/>
              <a:ext cx="7789069" cy="2915907"/>
            </a:xfrm>
            <a:prstGeom prst="rect">
              <a:avLst/>
            </a:prstGeom>
          </p:spPr>
          <p:txBody>
            <a:bodyPr lIns="0" tIns="0" rIns="0" bIns="0" rtlCol="0" anchor="t">
              <a:spAutoFit/>
            </a:bodyPr>
            <a:lstStyle/>
            <a:p>
              <a:pPr algn="just">
                <a:lnSpc>
                  <a:spcPts val="5854"/>
                </a:lnSpc>
              </a:pPr>
              <a:r>
                <a:rPr lang="en-US" sz="4000" dirty="0">
                  <a:solidFill>
                    <a:srgbClr val="000000"/>
                  </a:solidFill>
                  <a:latin typeface="Nanum Gothic Coding Bold"/>
                </a:rPr>
                <a:t>def</a:t>
              </a:r>
              <a:r>
                <a:rPr lang="en-US" sz="4000" dirty="0">
                  <a:solidFill>
                    <a:srgbClr val="000000"/>
                  </a:solidFill>
                  <a:latin typeface="Nanum Gothic Coding"/>
                </a:rPr>
                <a:t> g(): </a:t>
              </a:r>
            </a:p>
            <a:p>
              <a:pPr algn="just">
                <a:lnSpc>
                  <a:spcPts val="5854"/>
                </a:lnSpc>
              </a:pPr>
              <a:r>
                <a:rPr lang="en-US" sz="4000" dirty="0">
                  <a:solidFill>
                    <a:srgbClr val="000000"/>
                  </a:solidFill>
                  <a:latin typeface="Nanum Gothic Coding"/>
                </a:rPr>
                <a:t>    </a:t>
              </a:r>
              <a:r>
                <a:rPr lang="en-US" sz="4000" dirty="0">
                  <a:solidFill>
                    <a:srgbClr val="000000"/>
                  </a:solidFill>
                  <a:latin typeface="Nanum Gothic Coding Bold"/>
                </a:rPr>
                <a:t>if</a:t>
              </a:r>
              <a:r>
                <a:rPr lang="en-US" sz="4000" dirty="0">
                  <a:solidFill>
                    <a:srgbClr val="000000"/>
                  </a:solidFill>
                  <a:latin typeface="Nanum Gothic Coding"/>
                </a:rPr>
                <a:t>(halts(g)):</a:t>
              </a:r>
            </a:p>
            <a:p>
              <a:pPr marL="0" lvl="0" indent="0" algn="just">
                <a:lnSpc>
                  <a:spcPts val="5854"/>
                </a:lnSpc>
                <a:spcBef>
                  <a:spcPct val="0"/>
                </a:spcBef>
              </a:pPr>
              <a:r>
                <a:rPr lang="en-US" sz="4000" dirty="0">
                  <a:solidFill>
                    <a:srgbClr val="000000"/>
                  </a:solidFill>
                  <a:latin typeface="Nanum Gothic Coding"/>
                </a:rPr>
                <a:t>        </a:t>
              </a:r>
              <a:r>
                <a:rPr lang="en-US" sz="4000" dirty="0" err="1">
                  <a:solidFill>
                    <a:srgbClr val="000000"/>
                  </a:solidFill>
                  <a:latin typeface="Nanum Gothic Coding"/>
                </a:rPr>
                <a:t>loop_forever</a:t>
              </a:r>
              <a:r>
                <a:rPr lang="en-US" sz="4000" dirty="0">
                  <a:solidFill>
                    <a:srgbClr val="000000"/>
                  </a:solidFill>
                  <a:latin typeface="Nanum Gothic Coding"/>
                </a:rPr>
                <a:t>()</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9850710"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IMPACTS OF THE HALTING PROBLEM</a:t>
            </a:r>
          </a:p>
        </p:txBody>
      </p:sp>
      <p:sp>
        <p:nvSpPr>
          <p:cNvPr id="7" name="TextBox 7"/>
          <p:cNvSpPr txBox="1"/>
          <p:nvPr/>
        </p:nvSpPr>
        <p:spPr>
          <a:xfrm>
            <a:off x="1028700" y="2711020"/>
            <a:ext cx="16230600" cy="6019800"/>
          </a:xfrm>
          <a:prstGeom prst="rect">
            <a:avLst/>
          </a:prstGeom>
        </p:spPr>
        <p:txBody>
          <a:bodyPr lIns="0" tIns="0" rIns="0" bIns="0" rtlCol="0" anchor="t">
            <a:spAutoFit/>
          </a:bodyPr>
          <a:lstStyle/>
          <a:p>
            <a:pPr marL="647700" lvl="1" indent="-323850" algn="l">
              <a:lnSpc>
                <a:spcPts val="6000"/>
              </a:lnSpc>
              <a:buFont typeface="Arial"/>
              <a:buChar char="•"/>
            </a:pPr>
            <a:r>
              <a:rPr lang="en-US" sz="3000" dirty="0">
                <a:solidFill>
                  <a:srgbClr val="000000"/>
                </a:solidFill>
                <a:latin typeface="Libre Baskerville Bold"/>
              </a:rPr>
              <a:t>Limits of Computation: </a:t>
            </a:r>
            <a:r>
              <a:rPr lang="en-US" sz="3000" dirty="0">
                <a:solidFill>
                  <a:srgbClr val="000000"/>
                </a:solidFill>
                <a:latin typeface="Libre Baskerville"/>
              </a:rPr>
              <a:t>It points out the fact that some problems cannot be solved by algorithms and sets basic limits on what can be computed.</a:t>
            </a:r>
          </a:p>
          <a:p>
            <a:pPr marL="647700" lvl="1" indent="-323850" algn="l">
              <a:lnSpc>
                <a:spcPts val="6000"/>
              </a:lnSpc>
              <a:buFont typeface="Arial"/>
              <a:buChar char="•"/>
            </a:pPr>
            <a:r>
              <a:rPr lang="en-US" sz="3000" dirty="0">
                <a:solidFill>
                  <a:srgbClr val="000000"/>
                </a:solidFill>
                <a:latin typeface="Libre Baskerville Bold"/>
              </a:rPr>
              <a:t>Rice’s Theorem:</a:t>
            </a:r>
            <a:r>
              <a:rPr lang="en-US" sz="3000" dirty="0">
                <a:solidFill>
                  <a:srgbClr val="000000"/>
                </a:solidFill>
                <a:latin typeface="Libre Baskerville"/>
              </a:rPr>
              <a:t> Rice’s theorem, which asserts that it is impossible to determine any non-trivial aspect of program behavior, builds on the halting problem</a:t>
            </a:r>
          </a:p>
          <a:p>
            <a:pPr marL="647700" lvl="1" indent="-323850" algn="l">
              <a:lnSpc>
                <a:spcPts val="6000"/>
              </a:lnSpc>
              <a:buFont typeface="Arial"/>
              <a:buChar char="•"/>
            </a:pPr>
            <a:r>
              <a:rPr lang="en-US" sz="3000">
                <a:solidFill>
                  <a:srgbClr val="000000"/>
                </a:solidFill>
                <a:latin typeface="Libre Baskerville Bold"/>
              </a:rPr>
              <a:t>Gödel’s Incompleteness Theorem:</a:t>
            </a:r>
            <a:r>
              <a:rPr lang="en-US" sz="3000">
                <a:solidFill>
                  <a:srgbClr val="000000"/>
                </a:solidFill>
                <a:latin typeface="Libre Baskerville"/>
              </a:rPr>
              <a:t> The halting problem is related to Gödel’s work, shows that there exist true statements that are not provable within any sufficiently strong formal system.</a:t>
            </a:r>
          </a:p>
        </p:txBody>
      </p:sp>
      <p:sp>
        <p:nvSpPr>
          <p:cNvPr id="8" name="TextBox 8"/>
          <p:cNvSpPr txBox="1"/>
          <p:nvPr/>
        </p:nvSpPr>
        <p:spPr>
          <a:xfrm>
            <a:off x="1028700" y="1816100"/>
            <a:ext cx="5547047" cy="400050"/>
          </a:xfrm>
          <a:prstGeom prst="rect">
            <a:avLst/>
          </a:prstGeom>
        </p:spPr>
        <p:txBody>
          <a:bodyPr lIns="0" tIns="0" rIns="0" bIns="0" rtlCol="0" anchor="t">
            <a:spAutoFit/>
          </a:bodyPr>
          <a:lstStyle/>
          <a:p>
            <a:pPr algn="l">
              <a:lnSpc>
                <a:spcPts val="3000"/>
              </a:lnSpc>
              <a:spcBef>
                <a:spcPct val="0"/>
              </a:spcBef>
            </a:pPr>
            <a:r>
              <a:rPr lang="en-US" sz="3000">
                <a:solidFill>
                  <a:srgbClr val="000000"/>
                </a:solidFill>
                <a:latin typeface="Libre Baskerville Bold"/>
              </a:rPr>
              <a:t>THEOROTICAL IMPACTS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12368287"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IMPACTS OF THE HALTING PROBLEM (CONDT.)</a:t>
            </a:r>
          </a:p>
        </p:txBody>
      </p:sp>
      <p:sp>
        <p:nvSpPr>
          <p:cNvPr id="7" name="TextBox 7"/>
          <p:cNvSpPr txBox="1"/>
          <p:nvPr/>
        </p:nvSpPr>
        <p:spPr>
          <a:xfrm>
            <a:off x="1028700" y="2476500"/>
            <a:ext cx="16230600" cy="6781800"/>
          </a:xfrm>
          <a:prstGeom prst="rect">
            <a:avLst/>
          </a:prstGeom>
        </p:spPr>
        <p:txBody>
          <a:bodyPr lIns="0" tIns="0" rIns="0" bIns="0" rtlCol="0" anchor="t">
            <a:spAutoFit/>
          </a:bodyPr>
          <a:lstStyle/>
          <a:p>
            <a:pPr marL="647700" lvl="1" indent="-323850" algn="l">
              <a:lnSpc>
                <a:spcPts val="6000"/>
              </a:lnSpc>
              <a:buFont typeface="Arial"/>
              <a:buChar char="•"/>
            </a:pPr>
            <a:r>
              <a:rPr lang="en-US" sz="3000">
                <a:solidFill>
                  <a:srgbClr val="000000"/>
                </a:solidFill>
                <a:latin typeface="Libre Baskerville Bold"/>
              </a:rPr>
              <a:t>Software Verification: </a:t>
            </a:r>
            <a:r>
              <a:rPr lang="en-US" sz="3000">
                <a:solidFill>
                  <a:srgbClr val="000000"/>
                </a:solidFill>
                <a:latin typeface="Libre Baskerville"/>
              </a:rPr>
              <a:t>Since some program characteristics cannot be identified through algorithms, it highlights the difficulties in automatically confirming the correctness of software.</a:t>
            </a:r>
          </a:p>
          <a:p>
            <a:pPr marL="647700" lvl="1" indent="-323850" algn="l">
              <a:lnSpc>
                <a:spcPts val="6000"/>
              </a:lnSpc>
              <a:buFont typeface="Arial"/>
              <a:buChar char="•"/>
            </a:pPr>
            <a:r>
              <a:rPr lang="en-US" sz="3000">
                <a:solidFill>
                  <a:srgbClr val="000000"/>
                </a:solidFill>
                <a:latin typeface="Libre Baskerville Bold"/>
              </a:rPr>
              <a:t>Cybersecurity: </a:t>
            </a:r>
            <a:r>
              <a:rPr lang="en-US" sz="3000">
                <a:solidFill>
                  <a:srgbClr val="000000"/>
                </a:solidFill>
                <a:latin typeface="Libre Baskerville"/>
              </a:rPr>
              <a:t>The principles relating to the detection of malicious software are similar, and the process of figuring out whether a program is harmful can be just as complicated as the halting problem.</a:t>
            </a:r>
          </a:p>
          <a:p>
            <a:pPr marL="647700" lvl="1" indent="-323850" algn="l">
              <a:lnSpc>
                <a:spcPts val="6000"/>
              </a:lnSpc>
              <a:buFont typeface="Arial"/>
              <a:buChar char="•"/>
            </a:pPr>
            <a:r>
              <a:rPr lang="en-US" sz="3000">
                <a:solidFill>
                  <a:srgbClr val="000000"/>
                </a:solidFill>
                <a:latin typeface="Libre Baskerville Bold"/>
              </a:rPr>
              <a:t>Optimization and Analysis Tools: </a:t>
            </a:r>
            <a:r>
              <a:rPr lang="en-US" sz="3000">
                <a:solidFill>
                  <a:srgbClr val="000000"/>
                </a:solidFill>
                <a:latin typeface="Libre Baskerville"/>
              </a:rPr>
              <a:t>Since it is impossible to determine some properties (like termination) accurately, tools that analyze or improve code often depend on heuristics.</a:t>
            </a:r>
          </a:p>
        </p:txBody>
      </p:sp>
      <p:sp>
        <p:nvSpPr>
          <p:cNvPr id="8" name="TextBox 8"/>
          <p:cNvSpPr txBox="1"/>
          <p:nvPr/>
        </p:nvSpPr>
        <p:spPr>
          <a:xfrm>
            <a:off x="1028700" y="1816100"/>
            <a:ext cx="4757217" cy="400050"/>
          </a:xfrm>
          <a:prstGeom prst="rect">
            <a:avLst/>
          </a:prstGeom>
        </p:spPr>
        <p:txBody>
          <a:bodyPr lIns="0" tIns="0" rIns="0" bIns="0" rtlCol="0" anchor="t">
            <a:spAutoFit/>
          </a:bodyPr>
          <a:lstStyle/>
          <a:p>
            <a:pPr algn="l">
              <a:lnSpc>
                <a:spcPts val="3000"/>
              </a:lnSpc>
              <a:spcBef>
                <a:spcPct val="0"/>
              </a:spcBef>
            </a:pPr>
            <a:r>
              <a:rPr lang="en-US" sz="3000">
                <a:solidFill>
                  <a:srgbClr val="000000"/>
                </a:solidFill>
                <a:latin typeface="Libre Baskerville Bold"/>
              </a:rPr>
              <a:t>PRACTICAL IMPACTS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1028700" y="1095375"/>
            <a:ext cx="3617714" cy="460375"/>
          </a:xfrm>
          <a:prstGeom prst="rect">
            <a:avLst/>
          </a:prstGeom>
        </p:spPr>
        <p:txBody>
          <a:bodyPr lIns="0" tIns="0" rIns="0" bIns="0" rtlCol="0" anchor="t">
            <a:spAutoFit/>
          </a:bodyPr>
          <a:lstStyle/>
          <a:p>
            <a:pPr algn="l">
              <a:lnSpc>
                <a:spcPts val="3499"/>
              </a:lnSpc>
              <a:spcBef>
                <a:spcPct val="0"/>
              </a:spcBef>
            </a:pPr>
            <a:r>
              <a:rPr lang="en-US" sz="3499">
                <a:solidFill>
                  <a:srgbClr val="000000"/>
                </a:solidFill>
                <a:latin typeface="Libre Baskerville Bold"/>
              </a:rPr>
              <a:t>CONCLUSION</a:t>
            </a:r>
          </a:p>
        </p:txBody>
      </p:sp>
      <p:sp>
        <p:nvSpPr>
          <p:cNvPr id="7" name="TextBox 7"/>
          <p:cNvSpPr txBox="1"/>
          <p:nvPr/>
        </p:nvSpPr>
        <p:spPr>
          <a:xfrm>
            <a:off x="1044742" y="2014537"/>
            <a:ext cx="16448144" cy="5727081"/>
          </a:xfrm>
          <a:prstGeom prst="rect">
            <a:avLst/>
          </a:prstGeom>
        </p:spPr>
        <p:txBody>
          <a:bodyPr lIns="0" tIns="0" rIns="0" bIns="0" rtlCol="0" anchor="t">
            <a:spAutoFit/>
          </a:bodyPr>
          <a:lstStyle/>
          <a:p>
            <a:pPr algn="l">
              <a:lnSpc>
                <a:spcPts val="4500"/>
              </a:lnSpc>
            </a:pPr>
            <a:r>
              <a:rPr lang="en-US" sz="3000" dirty="0">
                <a:solidFill>
                  <a:srgbClr val="000000"/>
                </a:solidFill>
                <a:latin typeface="Libre Baskerville"/>
              </a:rPr>
              <a:t>The halting problem, introduced by Alan Turing in 1936, highlights the limits of algorithmic processes, showing that no universal algorithm can determine if a program halts. This concept provides the </a:t>
            </a:r>
            <a:r>
              <a:rPr lang="en-US" sz="3000" dirty="0" err="1">
                <a:solidFill>
                  <a:srgbClr val="000000"/>
                </a:solidFill>
                <a:latin typeface="Libre Baskerville"/>
              </a:rPr>
              <a:t>unsolvability</a:t>
            </a:r>
            <a:r>
              <a:rPr lang="en-US" sz="3000" dirty="0">
                <a:solidFill>
                  <a:srgbClr val="000000"/>
                </a:solidFill>
                <a:latin typeface="Libre Baskerville"/>
              </a:rPr>
              <a:t> of certain problems and connects to important theories like Rice’s Theorem and Gödel’s incompleteness theorems.</a:t>
            </a:r>
          </a:p>
          <a:p>
            <a:pPr algn="l">
              <a:lnSpc>
                <a:spcPts val="4500"/>
              </a:lnSpc>
            </a:pPr>
            <a:endParaRPr lang="en-US" sz="3000" dirty="0">
              <a:solidFill>
                <a:srgbClr val="000000"/>
              </a:solidFill>
              <a:latin typeface="Libre Baskerville"/>
            </a:endParaRPr>
          </a:p>
          <a:p>
            <a:pPr algn="l">
              <a:lnSpc>
                <a:spcPts val="4500"/>
              </a:lnSpc>
            </a:pPr>
            <a:r>
              <a:rPr lang="en-US" sz="3000" dirty="0">
                <a:solidFill>
                  <a:srgbClr val="000000"/>
                </a:solidFill>
                <a:latin typeface="Libre Baskerville"/>
              </a:rPr>
              <a:t>Practically, it impacts software verification, cybersecurity, automating software correctness and detecting malicious code. Understanding the halting problem guides computer scientists and engineers, influencing both theoretical and practical aspects of fields such as software development, cryptography, and 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12610204" y="-571500"/>
            <a:ext cx="6626483" cy="5715000"/>
          </a:xfrm>
          <a:custGeom>
            <a:avLst/>
            <a:gdLst/>
            <a:ahLst/>
            <a:cxnLst/>
            <a:rect l="l" t="t" r="r" b="b"/>
            <a:pathLst>
              <a:path w="6626483" h="5715000">
                <a:moveTo>
                  <a:pt x="0" y="0"/>
                </a:moveTo>
                <a:lnTo>
                  <a:pt x="6626483" y="0"/>
                </a:lnTo>
                <a:lnTo>
                  <a:pt x="6626483" y="5715000"/>
                </a:lnTo>
                <a:lnTo>
                  <a:pt x="0" y="5715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1266137">
            <a:off x="-1277219" y="5897732"/>
            <a:ext cx="5210769" cy="6721137"/>
          </a:xfrm>
          <a:custGeom>
            <a:avLst/>
            <a:gdLst/>
            <a:ahLst/>
            <a:cxnLst/>
            <a:rect l="l" t="t" r="r" b="b"/>
            <a:pathLst>
              <a:path w="5210769" h="6721137">
                <a:moveTo>
                  <a:pt x="0" y="0"/>
                </a:moveTo>
                <a:lnTo>
                  <a:pt x="5210769" y="0"/>
                </a:lnTo>
                <a:lnTo>
                  <a:pt x="5210769" y="6721136"/>
                </a:lnTo>
                <a:lnTo>
                  <a:pt x="0" y="67211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5569636">
            <a:off x="779619" y="-2269556"/>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rot="-3755510">
            <a:off x="14637629" y="5499669"/>
            <a:ext cx="4096053" cy="7060062"/>
          </a:xfrm>
          <a:custGeom>
            <a:avLst/>
            <a:gdLst/>
            <a:ahLst/>
            <a:cxnLst/>
            <a:rect l="l" t="t" r="r" b="b"/>
            <a:pathLst>
              <a:path w="4096053" h="7060062">
                <a:moveTo>
                  <a:pt x="0" y="0"/>
                </a:moveTo>
                <a:lnTo>
                  <a:pt x="4096053" y="0"/>
                </a:lnTo>
                <a:lnTo>
                  <a:pt x="4096053" y="7060062"/>
                </a:lnTo>
                <a:lnTo>
                  <a:pt x="0" y="706006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2921707" y="4118273"/>
            <a:ext cx="12444586" cy="2314564"/>
          </a:xfrm>
          <a:prstGeom prst="rect">
            <a:avLst/>
          </a:prstGeom>
        </p:spPr>
        <p:txBody>
          <a:bodyPr lIns="0" tIns="0" rIns="0" bIns="0" rtlCol="0" anchor="t">
            <a:spAutoFit/>
          </a:bodyPr>
          <a:lstStyle/>
          <a:p>
            <a:pPr algn="ctr">
              <a:lnSpc>
                <a:spcPts val="8999"/>
              </a:lnSpc>
              <a:spcBef>
                <a:spcPct val="0"/>
              </a:spcBef>
            </a:pPr>
            <a:r>
              <a:rPr lang="en-US" sz="8999" dirty="0">
                <a:solidFill>
                  <a:srgbClr val="000000"/>
                </a:solidFill>
                <a:latin typeface="Libre Baskerville Bold"/>
              </a:rPr>
              <a:t>THANK YOU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1666</Words>
  <Application>Microsoft Macintosh PowerPoint</Application>
  <PresentationFormat>Custom</PresentationFormat>
  <Paragraphs>83</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Times New Roman Bold</vt:lpstr>
      <vt:lpstr>Nanum Gothic Coding Bold</vt:lpstr>
      <vt:lpstr>Yeseva One</vt:lpstr>
      <vt:lpstr>Arial</vt:lpstr>
      <vt:lpstr>Libre Baskerville</vt:lpstr>
      <vt:lpstr>Times New Roman</vt:lpstr>
      <vt:lpstr>Libre Baskerville Bold</vt:lpstr>
      <vt:lpstr>Nanum Gothic Coding</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422 HALTING PROBLEM</dc:title>
  <cp:lastModifiedBy>MUHAMMED AKİF SEVİLGEN</cp:lastModifiedBy>
  <cp:revision>5</cp:revision>
  <dcterms:created xsi:type="dcterms:W3CDTF">2006-08-16T00:00:00Z</dcterms:created>
  <dcterms:modified xsi:type="dcterms:W3CDTF">2024-06-07T09:59:17Z</dcterms:modified>
  <dc:identifier>DAGHQ_rPYAo</dc:identifier>
</cp:coreProperties>
</file>