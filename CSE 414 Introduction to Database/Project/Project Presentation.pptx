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753600" cy="7315200"/>
  <p:notesSz cx="6858000" cy="9144000"/>
  <p:embeddedFontLst>
    <p:embeddedFont>
      <p:font typeface="Arial Bold" panose="020B0604020202020204" charset="-94"/>
      <p:regular r:id="rId23"/>
    </p:embeddedFont>
    <p:embeddedFont>
      <p:font typeface="Canva Sans" panose="020B0604020202020204" charset="0"/>
      <p:regular r:id="rId24"/>
    </p:embeddedFont>
    <p:embeddedFont>
      <p:font typeface="Canva Sans Bold" panose="020B0604020202020204" charset="0"/>
      <p:regular r:id="rId25"/>
    </p:embeddedFont>
    <p:embeddedFont>
      <p:font typeface="Open Sans" panose="020B0606030504020204" pitchFamily="34" charset="0"/>
      <p:regular r:id="rId26"/>
    </p:embeddedFont>
    <p:embeddedFont>
      <p:font typeface="Open Sans Bold" panose="020B0806030504020204" charset="0"/>
      <p:regular r:id="rId27"/>
    </p:embeddedFont>
    <p:embeddedFont>
      <p:font typeface="Tahoma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5" d="100"/>
          <a:sy n="35" d="100"/>
        </p:scale>
        <p:origin x="48" y="9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14.06.2024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60675" y="512763"/>
            <a:ext cx="342265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sv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9.png"/><Relationship Id="rId5" Type="http://schemas.openxmlformats.org/officeDocument/2006/relationships/image" Target="../media/image3.png"/><Relationship Id="rId10" Type="http://schemas.openxmlformats.org/officeDocument/2006/relationships/image" Target="../media/image18.png"/><Relationship Id="rId4" Type="http://schemas.openxmlformats.org/officeDocument/2006/relationships/image" Target="../media/image2.svg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23.png"/><Relationship Id="rId5" Type="http://schemas.openxmlformats.org/officeDocument/2006/relationships/image" Target="../media/image3.png"/><Relationship Id="rId10" Type="http://schemas.openxmlformats.org/officeDocument/2006/relationships/image" Target="../media/image22.png"/><Relationship Id="rId4" Type="http://schemas.openxmlformats.org/officeDocument/2006/relationships/image" Target="../media/image2.svg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26.png"/><Relationship Id="rId4" Type="http://schemas.openxmlformats.org/officeDocument/2006/relationships/image" Target="../media/image2.svg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28.png"/><Relationship Id="rId4" Type="http://schemas.openxmlformats.org/officeDocument/2006/relationships/image" Target="../media/image2.sv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31.png"/><Relationship Id="rId4" Type="http://schemas.openxmlformats.org/officeDocument/2006/relationships/image" Target="../media/image2.svg"/><Relationship Id="rId9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33.png"/><Relationship Id="rId4" Type="http://schemas.openxmlformats.org/officeDocument/2006/relationships/image" Target="../media/image2.svg"/><Relationship Id="rId9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36.png"/><Relationship Id="rId5" Type="http://schemas.openxmlformats.org/officeDocument/2006/relationships/image" Target="../media/image3.png"/><Relationship Id="rId10" Type="http://schemas.openxmlformats.org/officeDocument/2006/relationships/image" Target="../media/image35.png"/><Relationship Id="rId4" Type="http://schemas.openxmlformats.org/officeDocument/2006/relationships/image" Target="../media/image2.svg"/><Relationship Id="rId9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35760" y="6960753"/>
            <a:ext cx="3149600" cy="261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Arial Bold"/>
              </a:rPr>
              <a:t>GTÜ - Bilgisayar Mühendisliği Bölümü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68240" y="6952837"/>
            <a:ext cx="3149600" cy="261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Arial Bold"/>
              </a:rPr>
              <a:t>BİL 495/496 Bitirme Projesi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31280" y="259080"/>
            <a:ext cx="2743200" cy="169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9"/>
              </a:lnSpc>
            </a:pPr>
            <a:r>
              <a:rPr lang="en-US" sz="1066">
                <a:solidFill>
                  <a:srgbClr val="FFFFCC"/>
                </a:solidFill>
                <a:latin typeface="Tahoma Bold"/>
              </a:rPr>
              <a:t>Bilgisayar Mühendisliği Bölümü</a:t>
            </a:r>
          </a:p>
        </p:txBody>
      </p:sp>
      <p:sp>
        <p:nvSpPr>
          <p:cNvPr id="11" name="Freeform 11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162561" y="6096000"/>
            <a:ext cx="1219200" cy="1219200"/>
            <a:chOff x="0" y="0"/>
            <a:chExt cx="1625600" cy="1625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25600" cy="1625600"/>
            </a:xfrm>
            <a:custGeom>
              <a:avLst/>
              <a:gdLst/>
              <a:ahLst/>
              <a:cxnLst/>
              <a:rect l="l" t="t" r="r" b="b"/>
              <a:pathLst>
                <a:path w="1625600" h="1625600">
                  <a:moveTo>
                    <a:pt x="0" y="0"/>
                  </a:moveTo>
                  <a:lnTo>
                    <a:pt x="1625600" y="0"/>
                  </a:lnTo>
                  <a:lnTo>
                    <a:pt x="16256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495040" y="191735"/>
            <a:ext cx="2972521" cy="1861263"/>
            <a:chOff x="0" y="0"/>
            <a:chExt cx="3963361" cy="248168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63416" cy="2481707"/>
            </a:xfrm>
            <a:custGeom>
              <a:avLst/>
              <a:gdLst/>
              <a:ahLst/>
              <a:cxnLst/>
              <a:rect l="l" t="t" r="r" b="b"/>
              <a:pathLst>
                <a:path w="3963416" h="2481707">
                  <a:moveTo>
                    <a:pt x="0" y="0"/>
                  </a:moveTo>
                  <a:lnTo>
                    <a:pt x="3963416" y="0"/>
                  </a:lnTo>
                  <a:lnTo>
                    <a:pt x="3963416" y="2481707"/>
                  </a:lnTo>
                  <a:lnTo>
                    <a:pt x="0" y="2481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107" r="1" b="-10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94640" y="2179024"/>
            <a:ext cx="9164320" cy="2103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8"/>
              </a:lnSpc>
            </a:pPr>
            <a:r>
              <a:rPr lang="en-US" sz="3798" spc="18" dirty="0">
                <a:solidFill>
                  <a:srgbClr val="000000"/>
                </a:solidFill>
                <a:latin typeface="Open Sans Bold"/>
              </a:rPr>
              <a:t>GTU CSE 414 </a:t>
            </a:r>
          </a:p>
          <a:p>
            <a:pPr algn="ctr">
              <a:lnSpc>
                <a:spcPts val="5698"/>
              </a:lnSpc>
            </a:pPr>
            <a:r>
              <a:rPr lang="en-US" sz="3799" spc="18" dirty="0">
                <a:solidFill>
                  <a:srgbClr val="000000"/>
                </a:solidFill>
                <a:latin typeface="Open Sans Bold"/>
              </a:rPr>
              <a:t>INTRODUCTION TO DATABASE PROJECT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72794" y="4221480"/>
            <a:ext cx="5730086" cy="2484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3300" spc="16">
                <a:solidFill>
                  <a:srgbClr val="000000"/>
                </a:solidFill>
                <a:latin typeface="Open Sans Bold"/>
              </a:rPr>
              <a:t>DATABASE FOR A HYPOTHETICAL COMPANY</a:t>
            </a:r>
          </a:p>
          <a:p>
            <a:pPr algn="ctr">
              <a:lnSpc>
                <a:spcPts val="4950"/>
              </a:lnSpc>
            </a:pPr>
            <a:r>
              <a:rPr lang="en-US" sz="3300" spc="16">
                <a:solidFill>
                  <a:srgbClr val="000000"/>
                </a:solidFill>
                <a:latin typeface="Open Sans"/>
              </a:rPr>
              <a:t>ÇAĞRI ÇAYCI</a:t>
            </a:r>
          </a:p>
          <a:p>
            <a:pPr algn="ctr">
              <a:lnSpc>
                <a:spcPts val="4950"/>
              </a:lnSpc>
            </a:pPr>
            <a:r>
              <a:rPr lang="en-US" sz="3300" spc="16">
                <a:solidFill>
                  <a:srgbClr val="000000"/>
                </a:solidFill>
                <a:latin typeface="Open Sans"/>
              </a:rPr>
              <a:t>JUNE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35760" y="6998853"/>
            <a:ext cx="3710357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841417" y="6997700"/>
            <a:ext cx="3149600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INTRODUCTION TO DATABASE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4000" y="136737"/>
            <a:ext cx="8188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</a:rPr>
              <a:t>Contents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1520" y="1181100"/>
            <a:ext cx="8290560" cy="5683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1630" lvl="1" indent="-160815" algn="l">
              <a:lnSpc>
                <a:spcPts val="2500"/>
              </a:lnSpc>
              <a:buFont typeface="Arial"/>
              <a:buChar char="•"/>
            </a:pPr>
            <a:r>
              <a:rPr lang="en-US" sz="2500" spc="12">
                <a:solidFill>
                  <a:srgbClr val="000000"/>
                </a:solidFill>
                <a:latin typeface="Canva Sans"/>
              </a:rPr>
              <a:t>ER Diagram</a:t>
            </a:r>
          </a:p>
          <a:p>
            <a:pPr algn="l">
              <a:lnSpc>
                <a:spcPts val="2500"/>
              </a:lnSpc>
            </a:pPr>
            <a:endParaRPr lang="en-US" sz="2500" spc="12">
              <a:solidFill>
                <a:srgbClr val="000000"/>
              </a:solidFill>
              <a:latin typeface="Canva Sans"/>
            </a:endParaRPr>
          </a:p>
          <a:p>
            <a:pPr marL="321630" lvl="1" indent="-160815" algn="l">
              <a:lnSpc>
                <a:spcPts val="2500"/>
              </a:lnSpc>
              <a:buFont typeface="Arial"/>
              <a:buChar char="•"/>
            </a:pPr>
            <a:r>
              <a:rPr lang="en-US" sz="2500" spc="12">
                <a:solidFill>
                  <a:srgbClr val="000000"/>
                </a:solidFill>
                <a:latin typeface="Canva Sans"/>
              </a:rPr>
              <a:t>Functional Dependencies</a:t>
            </a:r>
          </a:p>
          <a:p>
            <a:pPr algn="l">
              <a:lnSpc>
                <a:spcPts val="2500"/>
              </a:lnSpc>
            </a:pPr>
            <a:endParaRPr lang="en-US" sz="2500" spc="12">
              <a:solidFill>
                <a:srgbClr val="000000"/>
              </a:solidFill>
              <a:latin typeface="Canva Sans"/>
            </a:endParaRPr>
          </a:p>
          <a:p>
            <a:pPr marL="321630" lvl="1" indent="-160815" algn="l">
              <a:lnSpc>
                <a:spcPts val="2500"/>
              </a:lnSpc>
              <a:buFont typeface="Arial"/>
              <a:buChar char="•"/>
            </a:pPr>
            <a:r>
              <a:rPr lang="en-US" sz="2500" spc="12">
                <a:solidFill>
                  <a:srgbClr val="000000"/>
                </a:solidFill>
                <a:latin typeface="Canva Sans"/>
              </a:rPr>
              <a:t>Normalization</a:t>
            </a:r>
          </a:p>
          <a:p>
            <a:pPr algn="l">
              <a:lnSpc>
                <a:spcPts val="2500"/>
              </a:lnSpc>
            </a:pPr>
            <a:r>
              <a:rPr lang="en-US" sz="2500" spc="12">
                <a:solidFill>
                  <a:srgbClr val="000000"/>
                </a:solidFill>
                <a:latin typeface="Canva Sans"/>
              </a:rPr>
              <a:t> </a:t>
            </a:r>
          </a:p>
          <a:p>
            <a:pPr marL="321630" lvl="1" indent="-160815" algn="l">
              <a:lnSpc>
                <a:spcPts val="2500"/>
              </a:lnSpc>
              <a:buFont typeface="Arial"/>
              <a:buChar char="•"/>
            </a:pPr>
            <a:r>
              <a:rPr lang="en-US" sz="2500" spc="12">
                <a:solidFill>
                  <a:srgbClr val="000000"/>
                </a:solidFill>
                <a:latin typeface="Canva Sans"/>
              </a:rPr>
              <a:t>Database Schema</a:t>
            </a:r>
          </a:p>
          <a:p>
            <a:pPr algn="l">
              <a:lnSpc>
                <a:spcPts val="2500"/>
              </a:lnSpc>
            </a:pPr>
            <a:endParaRPr lang="en-US" sz="2500" spc="12">
              <a:solidFill>
                <a:srgbClr val="000000"/>
              </a:solidFill>
              <a:latin typeface="Canva Sans"/>
            </a:endParaRPr>
          </a:p>
          <a:p>
            <a:pPr marL="321630" lvl="1" indent="-160815" algn="l">
              <a:lnSpc>
                <a:spcPts val="2500"/>
              </a:lnSpc>
              <a:buFont typeface="Arial"/>
              <a:buChar char="•"/>
            </a:pPr>
            <a:r>
              <a:rPr lang="en-US" sz="2500" spc="12">
                <a:solidFill>
                  <a:srgbClr val="000000"/>
                </a:solidFill>
                <a:latin typeface="Canva Sans"/>
              </a:rPr>
              <a:t>User Interface</a:t>
            </a:r>
          </a:p>
          <a:p>
            <a:pPr algn="l">
              <a:lnSpc>
                <a:spcPts val="2500"/>
              </a:lnSpc>
            </a:pPr>
            <a:endParaRPr lang="en-US" sz="2500" spc="12">
              <a:solidFill>
                <a:srgbClr val="000000"/>
              </a:solidFill>
              <a:latin typeface="Canva Sans"/>
            </a:endParaRPr>
          </a:p>
          <a:p>
            <a:pPr marL="321630" lvl="1" indent="-160815" algn="l">
              <a:lnSpc>
                <a:spcPts val="2500"/>
              </a:lnSpc>
              <a:buFont typeface="Arial"/>
              <a:buChar char="•"/>
            </a:pPr>
            <a:r>
              <a:rPr lang="en-US" sz="2500" spc="12">
                <a:solidFill>
                  <a:srgbClr val="000000"/>
                </a:solidFill>
                <a:latin typeface="Canva Sans"/>
              </a:rPr>
              <a:t>Triggers</a:t>
            </a:r>
          </a:p>
          <a:p>
            <a:pPr algn="l">
              <a:lnSpc>
                <a:spcPts val="2500"/>
              </a:lnSpc>
            </a:pPr>
            <a:r>
              <a:rPr lang="en-US" sz="2500" spc="12">
                <a:solidFill>
                  <a:srgbClr val="000000"/>
                </a:solidFill>
                <a:latin typeface="Canva Sans"/>
              </a:rPr>
              <a:t> </a:t>
            </a:r>
          </a:p>
          <a:p>
            <a:pPr marL="321630" lvl="1" indent="-160815" algn="l">
              <a:lnSpc>
                <a:spcPts val="2500"/>
              </a:lnSpc>
              <a:buFont typeface="Arial"/>
              <a:buChar char="•"/>
            </a:pPr>
            <a:r>
              <a:rPr lang="en-US" sz="2500" spc="12">
                <a:solidFill>
                  <a:srgbClr val="000000"/>
                </a:solidFill>
                <a:latin typeface="Canva Sans"/>
              </a:rPr>
              <a:t>Views</a:t>
            </a:r>
          </a:p>
          <a:p>
            <a:pPr algn="l">
              <a:lnSpc>
                <a:spcPts val="2500"/>
              </a:lnSpc>
            </a:pPr>
            <a:endParaRPr lang="en-US" sz="2500" spc="12">
              <a:solidFill>
                <a:srgbClr val="000000"/>
              </a:solidFill>
              <a:latin typeface="Canva Sans"/>
            </a:endParaRPr>
          </a:p>
          <a:p>
            <a:pPr marL="321630" lvl="1" indent="-160815" algn="l">
              <a:lnSpc>
                <a:spcPts val="2500"/>
              </a:lnSpc>
              <a:buFont typeface="Arial"/>
              <a:buChar char="•"/>
            </a:pPr>
            <a:r>
              <a:rPr lang="en-US" sz="2500" spc="12">
                <a:solidFill>
                  <a:srgbClr val="000000"/>
                </a:solidFill>
                <a:latin typeface="Canva Sans"/>
              </a:rPr>
              <a:t>Transactions</a:t>
            </a:r>
          </a:p>
          <a:p>
            <a:pPr algn="l">
              <a:lnSpc>
                <a:spcPts val="2500"/>
              </a:lnSpc>
            </a:pPr>
            <a:endParaRPr lang="en-US" sz="2500" spc="12">
              <a:solidFill>
                <a:srgbClr val="000000"/>
              </a:solidFill>
              <a:latin typeface="Canva Sans"/>
            </a:endParaRPr>
          </a:p>
          <a:p>
            <a:pPr marL="321630" lvl="1" indent="-160815" algn="l">
              <a:lnSpc>
                <a:spcPts val="2500"/>
              </a:lnSpc>
              <a:buFont typeface="Arial"/>
              <a:buChar char="•"/>
            </a:pPr>
            <a:r>
              <a:rPr lang="en-US" sz="2500" spc="12">
                <a:solidFill>
                  <a:srgbClr val="000000"/>
                </a:solidFill>
                <a:latin typeface="Canva Sans"/>
              </a:rPr>
              <a:t>Privileges and Roles</a:t>
            </a:r>
          </a:p>
          <a:p>
            <a:pPr algn="l">
              <a:lnSpc>
                <a:spcPts val="2500"/>
              </a:lnSpc>
            </a:pPr>
            <a:endParaRPr lang="en-US" sz="2500" spc="12">
              <a:solidFill>
                <a:srgbClr val="000000"/>
              </a:solidFill>
              <a:latin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700457" y="1752210"/>
            <a:ext cx="8290560" cy="4316197"/>
          </a:xfrm>
          <a:custGeom>
            <a:avLst/>
            <a:gdLst/>
            <a:ahLst/>
            <a:cxnLst/>
            <a:rect l="l" t="t" r="r" b="b"/>
            <a:pathLst>
              <a:path w="8290560" h="3680520">
                <a:moveTo>
                  <a:pt x="0" y="0"/>
                </a:moveTo>
                <a:lnTo>
                  <a:pt x="8290560" y="0"/>
                </a:lnTo>
                <a:lnTo>
                  <a:pt x="8290560" y="3680521"/>
                </a:lnTo>
                <a:lnTo>
                  <a:pt x="0" y="36805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635760" y="6998853"/>
            <a:ext cx="3710357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41417" y="6997700"/>
            <a:ext cx="3149600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INTRODUCTION TO DATABASE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4000" y="136737"/>
            <a:ext cx="8188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</a:rPr>
              <a:t>ENTITY-RELATIONSHIP DIAGRAM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1520" y="1066800"/>
            <a:ext cx="829056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 spc="12">
                <a:solidFill>
                  <a:srgbClr val="000000"/>
                </a:solidFill>
                <a:latin typeface="Canva Sans"/>
              </a:rPr>
              <a:t>The E-R Diagram of the Database;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5346117" y="2588553"/>
            <a:ext cx="2964610" cy="3284905"/>
          </a:xfrm>
          <a:custGeom>
            <a:avLst/>
            <a:gdLst/>
            <a:ahLst/>
            <a:cxnLst/>
            <a:rect l="l" t="t" r="r" b="b"/>
            <a:pathLst>
              <a:path w="2964610" h="3284905">
                <a:moveTo>
                  <a:pt x="0" y="0"/>
                </a:moveTo>
                <a:lnTo>
                  <a:pt x="2964610" y="0"/>
                </a:lnTo>
                <a:lnTo>
                  <a:pt x="2964610" y="3284904"/>
                </a:lnTo>
                <a:lnTo>
                  <a:pt x="0" y="32849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26399" t="-124797" r="-221582" b="-586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635760" y="6998853"/>
            <a:ext cx="3710357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41417" y="6997700"/>
            <a:ext cx="3149600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INTRODUCTION TO DATABASE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4000" y="136737"/>
            <a:ext cx="8188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</a:rPr>
              <a:t>FUNCTIONAL DEPENDENCIES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7160" y="1066800"/>
            <a:ext cx="6151262" cy="464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 spc="12" dirty="0">
                <a:solidFill>
                  <a:srgbClr val="000000"/>
                </a:solidFill>
                <a:latin typeface="Canva Sans Bold"/>
              </a:rPr>
              <a:t>Employee Table</a:t>
            </a:r>
          </a:p>
          <a:p>
            <a:pPr algn="l">
              <a:lnSpc>
                <a:spcPts val="3749"/>
              </a:lnSpc>
            </a:pPr>
            <a:endParaRPr lang="en-US" sz="2499" spc="12" dirty="0">
              <a:solidFill>
                <a:srgbClr val="000000"/>
              </a:solidFill>
              <a:latin typeface="Canva Sans Bold"/>
            </a:endParaRP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 spc="12" dirty="0" err="1">
                <a:solidFill>
                  <a:srgbClr val="000000"/>
                </a:solidFill>
                <a:latin typeface="Canva Sans"/>
              </a:rPr>
              <a:t>e_id</a:t>
            </a: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 -&gt; 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            </a:t>
            </a:r>
            <a:r>
              <a:rPr lang="en-US" sz="2499" u="none" strike="noStrike" spc="12" dirty="0" err="1">
                <a:solidFill>
                  <a:srgbClr val="000000"/>
                </a:solidFill>
                <a:latin typeface="Canva Sans"/>
              </a:rPr>
              <a:t>e_name</a:t>
            </a: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,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            salary,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            </a:t>
            </a:r>
            <a:r>
              <a:rPr lang="en-US" sz="2499" u="none" strike="noStrike" spc="12" dirty="0" err="1">
                <a:solidFill>
                  <a:srgbClr val="000000"/>
                </a:solidFill>
                <a:latin typeface="Canva Sans"/>
              </a:rPr>
              <a:t>hire_date</a:t>
            </a: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,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            </a:t>
            </a:r>
            <a:r>
              <a:rPr lang="en-US" sz="2499" u="none" strike="noStrike" spc="12" dirty="0" err="1">
                <a:solidFill>
                  <a:srgbClr val="000000"/>
                </a:solidFill>
                <a:latin typeface="Canva Sans"/>
              </a:rPr>
              <a:t>d_id</a:t>
            </a:r>
            <a:endParaRPr lang="en-US" sz="2499" u="none" strike="noStrike" spc="12" dirty="0">
              <a:solidFill>
                <a:srgbClr val="000000"/>
              </a:solidFill>
              <a:latin typeface="Canva Sans"/>
            </a:endParaRP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 spc="12" dirty="0" err="1">
                <a:solidFill>
                  <a:srgbClr val="000000"/>
                </a:solidFill>
                <a:latin typeface="Canva Sans"/>
              </a:rPr>
              <a:t>d_id</a:t>
            </a: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 -&gt; 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            </a:t>
            </a:r>
            <a:r>
              <a:rPr lang="en-US" sz="2499" u="none" strike="noStrike" spc="12" dirty="0" err="1">
                <a:solidFill>
                  <a:srgbClr val="000000"/>
                </a:solidFill>
                <a:latin typeface="Canva Sans"/>
              </a:rPr>
              <a:t>d_name</a:t>
            </a: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,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            manager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5691631" y="2124665"/>
            <a:ext cx="2273582" cy="3634183"/>
          </a:xfrm>
          <a:custGeom>
            <a:avLst/>
            <a:gdLst/>
            <a:ahLst/>
            <a:cxnLst/>
            <a:rect l="l" t="t" r="r" b="b"/>
            <a:pathLst>
              <a:path w="2273582" h="3634183">
                <a:moveTo>
                  <a:pt x="0" y="0"/>
                </a:moveTo>
                <a:lnTo>
                  <a:pt x="2273582" y="0"/>
                </a:lnTo>
                <a:lnTo>
                  <a:pt x="2273582" y="3634183"/>
                </a:lnTo>
                <a:lnTo>
                  <a:pt x="0" y="36341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25400" t="-29019" r="-362999" b="-13020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635760" y="6998853"/>
            <a:ext cx="3710357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41417" y="6997700"/>
            <a:ext cx="3149600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INTRODUCTION TO DATABASE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4000" y="136737"/>
            <a:ext cx="8188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</a:rPr>
              <a:t>FUNCTIONAL DEPENDENCIES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7160" y="1066800"/>
            <a:ext cx="6151262" cy="4708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 spc="12" dirty="0">
                <a:solidFill>
                  <a:srgbClr val="000000"/>
                </a:solidFill>
                <a:latin typeface="Canva Sans Bold"/>
              </a:rPr>
              <a:t>Order Table</a:t>
            </a:r>
          </a:p>
          <a:p>
            <a:pPr algn="l">
              <a:lnSpc>
                <a:spcPts val="3749"/>
              </a:lnSpc>
            </a:pPr>
            <a:endParaRPr lang="en-US" sz="2499" spc="12" dirty="0">
              <a:solidFill>
                <a:srgbClr val="000000"/>
              </a:solidFill>
              <a:latin typeface="Canva Sans Bold"/>
            </a:endParaRP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spc="12" dirty="0" err="1">
                <a:solidFill>
                  <a:srgbClr val="000000"/>
                </a:solidFill>
                <a:latin typeface="Canva Sans"/>
              </a:rPr>
              <a:t>o</a:t>
            </a:r>
            <a:r>
              <a:rPr lang="en-US" sz="2499" u="none" strike="noStrike" spc="12" dirty="0" err="1">
                <a:solidFill>
                  <a:srgbClr val="000000"/>
                </a:solidFill>
                <a:latin typeface="Canva Sans"/>
              </a:rPr>
              <a:t>_id</a:t>
            </a: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 -&gt; 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            </a:t>
            </a:r>
            <a:r>
              <a:rPr lang="en-US" sz="2499" u="none" strike="noStrike" spc="12" dirty="0" err="1">
                <a:solidFill>
                  <a:srgbClr val="000000"/>
                </a:solidFill>
                <a:latin typeface="Canva Sans"/>
              </a:rPr>
              <a:t>c_id</a:t>
            </a: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,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            </a:t>
            </a:r>
            <a:r>
              <a:rPr lang="en-US" sz="2499" u="none" strike="noStrike" spc="12" dirty="0" err="1">
                <a:solidFill>
                  <a:srgbClr val="000000"/>
                </a:solidFill>
                <a:latin typeface="Canva Sans"/>
              </a:rPr>
              <a:t>o_date</a:t>
            </a: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,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            </a:t>
            </a:r>
            <a:r>
              <a:rPr lang="en-US" sz="2499" u="none" strike="noStrike" spc="12" dirty="0" err="1">
                <a:solidFill>
                  <a:srgbClr val="000000"/>
                </a:solidFill>
                <a:latin typeface="Canva Sans"/>
              </a:rPr>
              <a:t>p_id</a:t>
            </a: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,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{</a:t>
            </a:r>
            <a:r>
              <a:rPr lang="en-US" sz="2499" u="none" strike="noStrike" spc="12" dirty="0" err="1">
                <a:solidFill>
                  <a:srgbClr val="000000"/>
                </a:solidFill>
                <a:latin typeface="Canva Sans"/>
              </a:rPr>
              <a:t>o_id</a:t>
            </a: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, </a:t>
            </a:r>
            <a:r>
              <a:rPr lang="tr-TR" sz="2499" spc="12" dirty="0">
                <a:solidFill>
                  <a:srgbClr val="000000"/>
                </a:solidFill>
                <a:latin typeface="Canva Sans"/>
              </a:rPr>
              <a:t>p</a:t>
            </a: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_id} -&gt; 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            quantity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{</a:t>
            </a:r>
            <a:r>
              <a:rPr lang="en-US" sz="2499" u="none" strike="noStrike" spc="12" dirty="0" err="1">
                <a:solidFill>
                  <a:srgbClr val="000000"/>
                </a:solidFill>
                <a:latin typeface="Canva Sans"/>
              </a:rPr>
              <a:t>p_id</a:t>
            </a: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, quantity} -&gt;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u="none" strike="noStrike" spc="12" dirty="0">
                <a:solidFill>
                  <a:srgbClr val="000000"/>
                </a:solidFill>
                <a:latin typeface="Canva Sans"/>
              </a:rPr>
              <a:t>            price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31520" y="1066800"/>
            <a:ext cx="8290560" cy="231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spc="12">
                <a:solidFill>
                  <a:srgbClr val="000000"/>
                </a:solidFill>
                <a:latin typeface="Canva Sans"/>
              </a:rPr>
              <a:t>The table order is split into two because it violates the condition of the Third Normal Form (3NF) due to a transitive dependency. By splitting the table, the transitive dependency between o_id and price is eliminated.</a:t>
            </a:r>
          </a:p>
        </p:txBody>
      </p:sp>
      <p:sp>
        <p:nvSpPr>
          <p:cNvPr id="9" name="Freeform 9"/>
          <p:cNvSpPr/>
          <p:nvPr/>
        </p:nvSpPr>
        <p:spPr>
          <a:xfrm>
            <a:off x="3607892" y="3733800"/>
            <a:ext cx="5383125" cy="2373302"/>
          </a:xfrm>
          <a:custGeom>
            <a:avLst/>
            <a:gdLst/>
            <a:ahLst/>
            <a:cxnLst/>
            <a:rect l="l" t="t" r="r" b="b"/>
            <a:pathLst>
              <a:path w="5383125" h="2373302">
                <a:moveTo>
                  <a:pt x="0" y="0"/>
                </a:moveTo>
                <a:lnTo>
                  <a:pt x="5383125" y="0"/>
                </a:lnTo>
                <a:lnTo>
                  <a:pt x="5383125" y="2373303"/>
                </a:lnTo>
                <a:lnTo>
                  <a:pt x="0" y="23733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415" t="-9632" r="-2123" b="-168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35760" y="6998853"/>
            <a:ext cx="3710357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41417" y="6997700"/>
            <a:ext cx="3149600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INTRODUCTION TO DATABASE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4000" y="136737"/>
            <a:ext cx="8188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</a:rPr>
              <a:t>NORMALIZATION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3421541" y="4104000"/>
            <a:ext cx="5569476" cy="2160000"/>
          </a:xfrm>
          <a:custGeom>
            <a:avLst/>
            <a:gdLst/>
            <a:ahLst/>
            <a:cxnLst/>
            <a:rect l="l" t="t" r="r" b="b"/>
            <a:pathLst>
              <a:path w="5569476" h="2609124">
                <a:moveTo>
                  <a:pt x="0" y="0"/>
                </a:moveTo>
                <a:lnTo>
                  <a:pt x="5569476" y="0"/>
                </a:lnTo>
                <a:lnTo>
                  <a:pt x="5569476" y="2609124"/>
                </a:lnTo>
                <a:lnTo>
                  <a:pt x="0" y="26091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673" b="-191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31520" y="1066800"/>
            <a:ext cx="8259497" cy="1847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The table employee is </a:t>
            </a:r>
            <a:r>
              <a:rPr lang="en-US" sz="2499" spc="12" dirty="0" err="1">
                <a:solidFill>
                  <a:srgbClr val="000000"/>
                </a:solidFill>
                <a:latin typeface="Canva Sans"/>
              </a:rPr>
              <a:t>splitted</a:t>
            </a: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 into two because it also violates 3NF due to transitive dependency. In this way, the transitive dependency between </a:t>
            </a:r>
            <a:r>
              <a:rPr lang="en-US" sz="2499" spc="12" dirty="0" err="1">
                <a:solidFill>
                  <a:srgbClr val="000000"/>
                </a:solidFill>
                <a:latin typeface="Canva Sans"/>
              </a:rPr>
              <a:t>e_id</a:t>
            </a: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 and manager is avoided.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35760" y="6998853"/>
            <a:ext cx="3710357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41417" y="6997700"/>
            <a:ext cx="3149600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INTRODUCTION TO DATABASE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4000" y="136737"/>
            <a:ext cx="8188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</a:rPr>
              <a:t>NORMALIZATION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392178" y="2484000"/>
            <a:ext cx="6969182" cy="4104000"/>
          </a:xfrm>
          <a:custGeom>
            <a:avLst/>
            <a:gdLst/>
            <a:ahLst/>
            <a:cxnLst/>
            <a:rect l="l" t="t" r="r" b="b"/>
            <a:pathLst>
              <a:path w="6969182" h="4602480">
                <a:moveTo>
                  <a:pt x="0" y="0"/>
                </a:moveTo>
                <a:lnTo>
                  <a:pt x="6969181" y="0"/>
                </a:lnTo>
                <a:lnTo>
                  <a:pt x="6969181" y="4602480"/>
                </a:lnTo>
                <a:lnTo>
                  <a:pt x="0" y="46024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2245" b="10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31520" y="1066800"/>
            <a:ext cx="829056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spc="12">
                <a:solidFill>
                  <a:srgbClr val="000000"/>
                </a:solidFill>
                <a:latin typeface="Canva Sans"/>
              </a:rPr>
              <a:t>After normalization, the ER diagram of the database appears as follows: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35760" y="6998853"/>
            <a:ext cx="3710357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41417" y="6997700"/>
            <a:ext cx="3149600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INTRODUCTION TO DATABASE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4000" y="136737"/>
            <a:ext cx="8188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</a:rPr>
              <a:t>NORMALIZATION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754087" y="2183538"/>
            <a:ext cx="6245426" cy="4241296"/>
          </a:xfrm>
          <a:custGeom>
            <a:avLst/>
            <a:gdLst/>
            <a:ahLst/>
            <a:cxnLst/>
            <a:rect l="l" t="t" r="r" b="b"/>
            <a:pathLst>
              <a:path w="6245426" h="4241296">
                <a:moveTo>
                  <a:pt x="0" y="0"/>
                </a:moveTo>
                <a:lnTo>
                  <a:pt x="6245426" y="0"/>
                </a:lnTo>
                <a:lnTo>
                  <a:pt x="6245426" y="4241297"/>
                </a:lnTo>
                <a:lnTo>
                  <a:pt x="0" y="42412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31520" y="1066800"/>
            <a:ext cx="829056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After normalization, the database schema has been designed.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35760" y="6998853"/>
            <a:ext cx="3710357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41417" y="6997700"/>
            <a:ext cx="3149600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INTRODUCTION TO DATABASE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4000" y="136737"/>
            <a:ext cx="8188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</a:rPr>
              <a:t>DATABASE SCHEMA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137920" y="3367701"/>
            <a:ext cx="3144355" cy="1504358"/>
          </a:xfrm>
          <a:custGeom>
            <a:avLst/>
            <a:gdLst/>
            <a:ahLst/>
            <a:cxnLst/>
            <a:rect l="l" t="t" r="r" b="b"/>
            <a:pathLst>
              <a:path w="3144355" h="1504358">
                <a:moveTo>
                  <a:pt x="0" y="0"/>
                </a:moveTo>
                <a:lnTo>
                  <a:pt x="3144355" y="0"/>
                </a:lnTo>
                <a:lnTo>
                  <a:pt x="3144355" y="1504358"/>
                </a:lnTo>
                <a:lnTo>
                  <a:pt x="0" y="15043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497495" y="2061421"/>
            <a:ext cx="4873411" cy="4116917"/>
          </a:xfrm>
          <a:custGeom>
            <a:avLst/>
            <a:gdLst/>
            <a:ahLst/>
            <a:cxnLst/>
            <a:rect l="l" t="t" r="r" b="b"/>
            <a:pathLst>
              <a:path w="4873411" h="4116917">
                <a:moveTo>
                  <a:pt x="0" y="0"/>
                </a:moveTo>
                <a:lnTo>
                  <a:pt x="4873410" y="0"/>
                </a:lnTo>
                <a:lnTo>
                  <a:pt x="4873410" y="4116918"/>
                </a:lnTo>
                <a:lnTo>
                  <a:pt x="0" y="41169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731520" y="1066800"/>
            <a:ext cx="829056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r>
              <a:rPr lang="en-US" sz="2499" spc="12">
                <a:solidFill>
                  <a:srgbClr val="000000"/>
                </a:solidFill>
                <a:latin typeface="Canva Sans"/>
              </a:rPr>
              <a:t>The user interface has been developed.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5760" y="6998853"/>
            <a:ext cx="3710357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41417" y="6997700"/>
            <a:ext cx="3149600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INTRODUCTION TO DATABASE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4000" y="136737"/>
            <a:ext cx="8188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</a:rPr>
              <a:t>USER 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00457" y="1066800"/>
            <a:ext cx="8290560" cy="4708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 dirty="0" err="1">
                <a:solidFill>
                  <a:srgbClr val="000000"/>
                </a:solidFill>
                <a:latin typeface="Canva Sans Bold"/>
              </a:rPr>
              <a:t>addressChange</a:t>
            </a: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: Changes the </a:t>
            </a:r>
            <a:r>
              <a:rPr lang="en-US" sz="2499" spc="12" dirty="0" err="1">
                <a:solidFill>
                  <a:srgbClr val="000000"/>
                </a:solidFill>
                <a:latin typeface="Canva Sans"/>
              </a:rPr>
              <a:t>adress</a:t>
            </a: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 of the </a:t>
            </a:r>
            <a:r>
              <a:rPr lang="tr-TR" sz="2499" spc="12" dirty="0">
                <a:solidFill>
                  <a:srgbClr val="000000"/>
                </a:solidFill>
                <a:latin typeface="Canva Sans"/>
              </a:rPr>
              <a:t>s</a:t>
            </a:r>
            <a:r>
              <a:rPr lang="en-US" sz="2499" spc="12" dirty="0" err="1">
                <a:solidFill>
                  <a:srgbClr val="000000"/>
                </a:solidFill>
                <a:latin typeface="Canva Sans"/>
              </a:rPr>
              <a:t>hipment</a:t>
            </a: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 when customer </a:t>
            </a:r>
            <a:r>
              <a:rPr lang="en-US" sz="2499" spc="12" dirty="0" err="1">
                <a:solidFill>
                  <a:srgbClr val="000000"/>
                </a:solidFill>
                <a:latin typeface="Canva Sans"/>
              </a:rPr>
              <a:t>adress</a:t>
            </a: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 is changed.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 dirty="0" err="1">
                <a:solidFill>
                  <a:srgbClr val="000000"/>
                </a:solidFill>
                <a:latin typeface="Canva Sans Bold"/>
              </a:rPr>
              <a:t>updateStockQuantity</a:t>
            </a: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: Updates the stock quantity of a product when it is added to </a:t>
            </a:r>
            <a:r>
              <a:rPr lang="en-US" sz="2499" spc="12" dirty="0" err="1">
                <a:solidFill>
                  <a:srgbClr val="000000"/>
                </a:solidFill>
                <a:latin typeface="Canva Sans"/>
              </a:rPr>
              <a:t>orderDetail</a:t>
            </a: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 table.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 dirty="0" err="1">
                <a:solidFill>
                  <a:srgbClr val="000000"/>
                </a:solidFill>
                <a:latin typeface="Canva Sans Bold"/>
              </a:rPr>
              <a:t>cancelOrder</a:t>
            </a: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: Refunds the money of the order to customer.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 dirty="0" err="1">
                <a:solidFill>
                  <a:srgbClr val="000000"/>
                </a:solidFill>
                <a:latin typeface="Canva Sans Bold"/>
              </a:rPr>
              <a:t>createProduct</a:t>
            </a: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: Raises the salary of employee when it creates a product.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 dirty="0" err="1">
                <a:solidFill>
                  <a:srgbClr val="000000"/>
                </a:solidFill>
                <a:latin typeface="Canva Sans Bold"/>
              </a:rPr>
              <a:t>updatePrice</a:t>
            </a: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: Updates the price of the product according to stock quantity.</a:t>
            </a:r>
          </a:p>
        </p:txBody>
      </p:sp>
      <p:sp>
        <p:nvSpPr>
          <p:cNvPr id="9" name="Freeform 9"/>
          <p:cNvSpPr/>
          <p:nvPr/>
        </p:nvSpPr>
        <p:spPr>
          <a:xfrm>
            <a:off x="5930119" y="5626606"/>
            <a:ext cx="3060898" cy="966599"/>
          </a:xfrm>
          <a:custGeom>
            <a:avLst/>
            <a:gdLst/>
            <a:ahLst/>
            <a:cxnLst/>
            <a:rect l="l" t="t" r="r" b="b"/>
            <a:pathLst>
              <a:path w="3060898" h="966599">
                <a:moveTo>
                  <a:pt x="0" y="0"/>
                </a:moveTo>
                <a:lnTo>
                  <a:pt x="3060898" y="0"/>
                </a:lnTo>
                <a:lnTo>
                  <a:pt x="3060898" y="966599"/>
                </a:lnTo>
                <a:lnTo>
                  <a:pt x="0" y="9665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35760" y="6998853"/>
            <a:ext cx="3710357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41417" y="6997700"/>
            <a:ext cx="3149600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INTRODUCTION TO DATABASE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4000" y="136737"/>
            <a:ext cx="8188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</a:rPr>
              <a:t>TRIGGERS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137920" y="1514475"/>
            <a:ext cx="5561155" cy="736777"/>
          </a:xfrm>
          <a:custGeom>
            <a:avLst/>
            <a:gdLst/>
            <a:ahLst/>
            <a:cxnLst/>
            <a:rect l="l" t="t" r="r" b="b"/>
            <a:pathLst>
              <a:path w="5561155" h="736777">
                <a:moveTo>
                  <a:pt x="0" y="0"/>
                </a:moveTo>
                <a:lnTo>
                  <a:pt x="5561155" y="0"/>
                </a:lnTo>
                <a:lnTo>
                  <a:pt x="5561155" y="736777"/>
                </a:lnTo>
                <a:lnTo>
                  <a:pt x="0" y="7367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37920" y="2413055"/>
            <a:ext cx="5561155" cy="1551339"/>
          </a:xfrm>
          <a:custGeom>
            <a:avLst/>
            <a:gdLst/>
            <a:ahLst/>
            <a:cxnLst/>
            <a:rect l="l" t="t" r="r" b="b"/>
            <a:pathLst>
              <a:path w="5561155" h="1551339">
                <a:moveTo>
                  <a:pt x="0" y="0"/>
                </a:moveTo>
                <a:lnTo>
                  <a:pt x="5561155" y="0"/>
                </a:lnTo>
                <a:lnTo>
                  <a:pt x="5561155" y="1551339"/>
                </a:lnTo>
                <a:lnTo>
                  <a:pt x="0" y="15513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143000" y="5231219"/>
            <a:ext cx="5035400" cy="1457236"/>
          </a:xfrm>
          <a:custGeom>
            <a:avLst/>
            <a:gdLst/>
            <a:ahLst/>
            <a:cxnLst/>
            <a:rect l="l" t="t" r="r" b="b"/>
            <a:pathLst>
              <a:path w="5035400" h="1457236">
                <a:moveTo>
                  <a:pt x="0" y="0"/>
                </a:moveTo>
                <a:lnTo>
                  <a:pt x="5035400" y="0"/>
                </a:lnTo>
                <a:lnTo>
                  <a:pt x="5035400" y="1457236"/>
                </a:lnTo>
                <a:lnTo>
                  <a:pt x="0" y="145723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137920" y="4440644"/>
            <a:ext cx="3569465" cy="685800"/>
          </a:xfrm>
          <a:custGeom>
            <a:avLst/>
            <a:gdLst/>
            <a:ahLst/>
            <a:cxnLst/>
            <a:rect l="l" t="t" r="r" b="b"/>
            <a:pathLst>
              <a:path w="3569465" h="685800">
                <a:moveTo>
                  <a:pt x="0" y="0"/>
                </a:moveTo>
                <a:lnTo>
                  <a:pt x="3569465" y="0"/>
                </a:lnTo>
                <a:lnTo>
                  <a:pt x="356946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00457" y="1066800"/>
            <a:ext cx="829056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>
                <a:solidFill>
                  <a:srgbClr val="000000"/>
                </a:solidFill>
                <a:latin typeface="Canva Sans Bold"/>
              </a:rPr>
              <a:t>addressChange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35760" y="6998853"/>
            <a:ext cx="3710357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41417" y="6997700"/>
            <a:ext cx="3149600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INTRODUCTION TO DATABASE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4000" y="136737"/>
            <a:ext cx="8188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</a:rPr>
              <a:t>TRIGGERS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1520" y="3992969"/>
            <a:ext cx="829056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>
                <a:solidFill>
                  <a:srgbClr val="000000"/>
                </a:solidFill>
                <a:latin typeface="Canva Sans Bold"/>
              </a:rPr>
              <a:t>cancelOrder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184294" y="2573189"/>
            <a:ext cx="4161823" cy="1717713"/>
          </a:xfrm>
          <a:custGeom>
            <a:avLst/>
            <a:gdLst/>
            <a:ahLst/>
            <a:cxnLst/>
            <a:rect l="l" t="t" r="r" b="b"/>
            <a:pathLst>
              <a:path w="4161823" h="1717713">
                <a:moveTo>
                  <a:pt x="0" y="0"/>
                </a:moveTo>
                <a:lnTo>
                  <a:pt x="4161823" y="0"/>
                </a:lnTo>
                <a:lnTo>
                  <a:pt x="4161823" y="1717713"/>
                </a:lnTo>
                <a:lnTo>
                  <a:pt x="0" y="17177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84294" y="1514475"/>
            <a:ext cx="4161823" cy="924849"/>
          </a:xfrm>
          <a:custGeom>
            <a:avLst/>
            <a:gdLst/>
            <a:ahLst/>
            <a:cxnLst/>
            <a:rect l="l" t="t" r="r" b="b"/>
            <a:pathLst>
              <a:path w="4161823" h="924849">
                <a:moveTo>
                  <a:pt x="0" y="0"/>
                </a:moveTo>
                <a:lnTo>
                  <a:pt x="4161823" y="0"/>
                </a:lnTo>
                <a:lnTo>
                  <a:pt x="4161823" y="924850"/>
                </a:lnTo>
                <a:lnTo>
                  <a:pt x="0" y="9248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184294" y="5048783"/>
            <a:ext cx="2961364" cy="1006696"/>
          </a:xfrm>
          <a:custGeom>
            <a:avLst/>
            <a:gdLst/>
            <a:ahLst/>
            <a:cxnLst/>
            <a:rect l="l" t="t" r="r" b="b"/>
            <a:pathLst>
              <a:path w="2961364" h="1006696">
                <a:moveTo>
                  <a:pt x="0" y="0"/>
                </a:moveTo>
                <a:lnTo>
                  <a:pt x="2961365" y="0"/>
                </a:lnTo>
                <a:lnTo>
                  <a:pt x="2961365" y="1006696"/>
                </a:lnTo>
                <a:lnTo>
                  <a:pt x="0" y="10066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594713" y="5048783"/>
            <a:ext cx="3848247" cy="1512807"/>
          </a:xfrm>
          <a:custGeom>
            <a:avLst/>
            <a:gdLst/>
            <a:ahLst/>
            <a:cxnLst/>
            <a:rect l="l" t="t" r="r" b="b"/>
            <a:pathLst>
              <a:path w="3848247" h="1512807">
                <a:moveTo>
                  <a:pt x="0" y="0"/>
                </a:moveTo>
                <a:lnTo>
                  <a:pt x="3848247" y="0"/>
                </a:lnTo>
                <a:lnTo>
                  <a:pt x="3848247" y="1512807"/>
                </a:lnTo>
                <a:lnTo>
                  <a:pt x="0" y="151280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700457" y="1066800"/>
            <a:ext cx="829056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>
                <a:solidFill>
                  <a:srgbClr val="000000"/>
                </a:solidFill>
                <a:latin typeface="Canva Sans Bold"/>
              </a:rPr>
              <a:t>updatePrice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35760" y="6998853"/>
            <a:ext cx="3710357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41417" y="6997700"/>
            <a:ext cx="3149600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INTRODUCTION TO DATABASE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4000" y="136737"/>
            <a:ext cx="8188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</a:rPr>
              <a:t>TRIGGERS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0457" y="4348052"/>
            <a:ext cx="829056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>
                <a:solidFill>
                  <a:srgbClr val="000000"/>
                </a:solidFill>
                <a:latin typeface="Canva Sans Bold"/>
              </a:rPr>
              <a:t>createProduct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137920" y="2062724"/>
            <a:ext cx="5896251" cy="1680601"/>
          </a:xfrm>
          <a:custGeom>
            <a:avLst/>
            <a:gdLst/>
            <a:ahLst/>
            <a:cxnLst/>
            <a:rect l="l" t="t" r="r" b="b"/>
            <a:pathLst>
              <a:path w="5896251" h="1680601">
                <a:moveTo>
                  <a:pt x="0" y="0"/>
                </a:moveTo>
                <a:lnTo>
                  <a:pt x="5896251" y="0"/>
                </a:lnTo>
                <a:lnTo>
                  <a:pt x="5896251" y="1680601"/>
                </a:lnTo>
                <a:lnTo>
                  <a:pt x="0" y="16806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00457" y="1066800"/>
            <a:ext cx="829056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 dirty="0" err="1">
                <a:solidFill>
                  <a:srgbClr val="000000"/>
                </a:solidFill>
                <a:latin typeface="Canva Sans Bold"/>
              </a:rPr>
              <a:t>contactCustomer</a:t>
            </a:r>
            <a:r>
              <a:rPr lang="en-US" sz="2499" spc="12" dirty="0">
                <a:solidFill>
                  <a:srgbClr val="000000"/>
                </a:solidFill>
                <a:latin typeface="Canva Sans Bold"/>
              </a:rPr>
              <a:t>:  </a:t>
            </a: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If a product has problems, gets the contact info of customer to inform him.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35760" y="6998853"/>
            <a:ext cx="3710357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41417" y="6997700"/>
            <a:ext cx="3149600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INTRODUCTION TO DATABASE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4000" y="136737"/>
            <a:ext cx="8188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</a:rPr>
              <a:t>VIEWS</a:t>
            </a:r>
          </a:p>
        </p:txBody>
      </p:sp>
      <p:sp>
        <p:nvSpPr>
          <p:cNvPr id="13" name="Freeform 13"/>
          <p:cNvSpPr/>
          <p:nvPr/>
        </p:nvSpPr>
        <p:spPr>
          <a:xfrm>
            <a:off x="1137920" y="4335642"/>
            <a:ext cx="7013517" cy="1702076"/>
          </a:xfrm>
          <a:custGeom>
            <a:avLst/>
            <a:gdLst/>
            <a:ahLst/>
            <a:cxnLst/>
            <a:rect l="l" t="t" r="r" b="b"/>
            <a:pathLst>
              <a:path w="7013517" h="1702076">
                <a:moveTo>
                  <a:pt x="0" y="0"/>
                </a:moveTo>
                <a:lnTo>
                  <a:pt x="7013517" y="0"/>
                </a:lnTo>
                <a:lnTo>
                  <a:pt x="7013517" y="1702076"/>
                </a:lnTo>
                <a:lnTo>
                  <a:pt x="0" y="17020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731520" y="3887967"/>
            <a:ext cx="829056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 dirty="0" err="1">
                <a:solidFill>
                  <a:srgbClr val="000000"/>
                </a:solidFill>
                <a:latin typeface="Canva Sans Bold"/>
              </a:rPr>
              <a:t>detailedOrder</a:t>
            </a:r>
            <a:r>
              <a:rPr lang="en-US" sz="2499" spc="12" dirty="0">
                <a:solidFill>
                  <a:srgbClr val="000000"/>
                </a:solidFill>
                <a:latin typeface="Canva Sans Bold"/>
              </a:rPr>
              <a:t>: </a:t>
            </a: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Gets the total price of an order.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137920" y="1990725"/>
            <a:ext cx="2814335" cy="1982967"/>
          </a:xfrm>
          <a:custGeom>
            <a:avLst/>
            <a:gdLst/>
            <a:ahLst/>
            <a:cxnLst/>
            <a:rect l="l" t="t" r="r" b="b"/>
            <a:pathLst>
              <a:path w="2814335" h="1982967">
                <a:moveTo>
                  <a:pt x="0" y="0"/>
                </a:moveTo>
                <a:lnTo>
                  <a:pt x="2814335" y="0"/>
                </a:lnTo>
                <a:lnTo>
                  <a:pt x="2814335" y="1982967"/>
                </a:lnTo>
                <a:lnTo>
                  <a:pt x="0" y="19829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37920" y="4811892"/>
            <a:ext cx="4044420" cy="1795924"/>
          </a:xfrm>
          <a:custGeom>
            <a:avLst/>
            <a:gdLst/>
            <a:ahLst/>
            <a:cxnLst/>
            <a:rect l="l" t="t" r="r" b="b"/>
            <a:pathLst>
              <a:path w="4044420" h="1795924">
                <a:moveTo>
                  <a:pt x="0" y="0"/>
                </a:moveTo>
                <a:lnTo>
                  <a:pt x="4044420" y="0"/>
                </a:lnTo>
                <a:lnTo>
                  <a:pt x="4044420" y="1795924"/>
                </a:lnTo>
                <a:lnTo>
                  <a:pt x="0" y="179592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700457" y="1066800"/>
            <a:ext cx="829056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 dirty="0" err="1">
                <a:solidFill>
                  <a:srgbClr val="000000"/>
                </a:solidFill>
                <a:latin typeface="Canva Sans Bold"/>
              </a:rPr>
              <a:t>employeeSupervisor</a:t>
            </a:r>
            <a:r>
              <a:rPr lang="en-US" sz="2499" spc="12" dirty="0">
                <a:solidFill>
                  <a:srgbClr val="000000"/>
                </a:solidFill>
                <a:latin typeface="Canva Sans Bold"/>
              </a:rPr>
              <a:t>: </a:t>
            </a: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Gets the name of the employee’s supervisor to complain about him.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5760" y="6998853"/>
            <a:ext cx="3710357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41417" y="6997700"/>
            <a:ext cx="3149600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INTRODUCTION TO DATABASE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4000" y="136737"/>
            <a:ext cx="8188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</a:rPr>
              <a:t>VIEWS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1520" y="3887967"/>
            <a:ext cx="829056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 dirty="0" err="1">
                <a:solidFill>
                  <a:srgbClr val="000000"/>
                </a:solidFill>
                <a:latin typeface="Canva Sans Bold"/>
              </a:rPr>
              <a:t>performanceEvaluation</a:t>
            </a:r>
            <a:r>
              <a:rPr lang="en-US" sz="2499" spc="12" dirty="0">
                <a:solidFill>
                  <a:srgbClr val="000000"/>
                </a:solidFill>
                <a:latin typeface="Canva Sans Bold"/>
              </a:rPr>
              <a:t>: </a:t>
            </a: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Evaluates employees in terms of their number of products.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137948" y="2126803"/>
            <a:ext cx="5476565" cy="2560472"/>
          </a:xfrm>
          <a:custGeom>
            <a:avLst/>
            <a:gdLst/>
            <a:ahLst/>
            <a:cxnLst/>
            <a:rect l="l" t="t" r="r" b="b"/>
            <a:pathLst>
              <a:path w="5476565" h="2560472">
                <a:moveTo>
                  <a:pt x="0" y="0"/>
                </a:moveTo>
                <a:lnTo>
                  <a:pt x="5476565" y="0"/>
                </a:lnTo>
                <a:lnTo>
                  <a:pt x="5476565" y="2560472"/>
                </a:lnTo>
                <a:lnTo>
                  <a:pt x="0" y="25604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635760" y="6998853"/>
            <a:ext cx="3710357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41417" y="6997700"/>
            <a:ext cx="3149600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INTRODUCTION TO DATABASE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4000" y="136737"/>
            <a:ext cx="8188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</a:rPr>
              <a:t>VIEWS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2583" y="1066800"/>
            <a:ext cx="8290560" cy="913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 dirty="0" err="1">
                <a:solidFill>
                  <a:srgbClr val="000000"/>
                </a:solidFill>
                <a:latin typeface="Canva Sans Bold"/>
              </a:rPr>
              <a:t>shipmentEvaluation</a:t>
            </a:r>
            <a:r>
              <a:rPr lang="tr-TR" sz="2499" spc="12" dirty="0">
                <a:solidFill>
                  <a:srgbClr val="000000"/>
                </a:solidFill>
                <a:latin typeface="Canva Sans Bold"/>
              </a:rPr>
              <a:t>: </a:t>
            </a:r>
            <a:r>
              <a:rPr lang="en-US" sz="2499" spc="12" dirty="0">
                <a:solidFill>
                  <a:srgbClr val="000000"/>
                </a:solidFill>
                <a:latin typeface="Canva Sans" panose="020B0604020202020204" charset="0"/>
              </a:rPr>
              <a:t>Evaluate shipment in terms of delivery date.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914575" y="1952625"/>
            <a:ext cx="5870369" cy="868153"/>
          </a:xfrm>
          <a:custGeom>
            <a:avLst/>
            <a:gdLst/>
            <a:ahLst/>
            <a:cxnLst/>
            <a:rect l="l" t="t" r="r" b="b"/>
            <a:pathLst>
              <a:path w="5870369" h="868153">
                <a:moveTo>
                  <a:pt x="0" y="0"/>
                </a:moveTo>
                <a:lnTo>
                  <a:pt x="5870369" y="0"/>
                </a:lnTo>
                <a:lnTo>
                  <a:pt x="5870369" y="868153"/>
                </a:lnTo>
                <a:lnTo>
                  <a:pt x="0" y="8681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14575" y="3135103"/>
            <a:ext cx="6236480" cy="2529388"/>
          </a:xfrm>
          <a:custGeom>
            <a:avLst/>
            <a:gdLst/>
            <a:ahLst/>
            <a:cxnLst/>
            <a:rect l="l" t="t" r="r" b="b"/>
            <a:pathLst>
              <a:path w="6236480" h="2529388">
                <a:moveTo>
                  <a:pt x="0" y="0"/>
                </a:moveTo>
                <a:lnTo>
                  <a:pt x="6236480" y="0"/>
                </a:lnTo>
                <a:lnTo>
                  <a:pt x="6236480" y="2529388"/>
                </a:lnTo>
                <a:lnTo>
                  <a:pt x="0" y="25293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700457" y="1066800"/>
            <a:ext cx="8290560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Updating balance after order placed.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5760" y="6998853"/>
            <a:ext cx="3710357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41417" y="6997700"/>
            <a:ext cx="3149600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INTRODUCTION TO DATABASE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4000" y="136737"/>
            <a:ext cx="8188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</a:rPr>
              <a:t>TRANSACTIONS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219062" y="2019235"/>
            <a:ext cx="5247888" cy="1638365"/>
          </a:xfrm>
          <a:custGeom>
            <a:avLst/>
            <a:gdLst/>
            <a:ahLst/>
            <a:cxnLst/>
            <a:rect l="l" t="t" r="r" b="b"/>
            <a:pathLst>
              <a:path w="5247888" h="1638365">
                <a:moveTo>
                  <a:pt x="0" y="0"/>
                </a:moveTo>
                <a:lnTo>
                  <a:pt x="5247888" y="0"/>
                </a:lnTo>
                <a:lnTo>
                  <a:pt x="5247888" y="1638365"/>
                </a:lnTo>
                <a:lnTo>
                  <a:pt x="0" y="16383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219062" y="3710041"/>
            <a:ext cx="6222972" cy="2548519"/>
          </a:xfrm>
          <a:custGeom>
            <a:avLst/>
            <a:gdLst/>
            <a:ahLst/>
            <a:cxnLst/>
            <a:rect l="l" t="t" r="r" b="b"/>
            <a:pathLst>
              <a:path w="6222972" h="2548519">
                <a:moveTo>
                  <a:pt x="0" y="0"/>
                </a:moveTo>
                <a:lnTo>
                  <a:pt x="6222972" y="0"/>
                </a:lnTo>
                <a:lnTo>
                  <a:pt x="6222972" y="2548519"/>
                </a:lnTo>
                <a:lnTo>
                  <a:pt x="0" y="25485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700457" y="1066800"/>
            <a:ext cx="829056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Selecting the employee of the year and awarding them a raise.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5760" y="6998853"/>
            <a:ext cx="3710357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41417" y="6997700"/>
            <a:ext cx="3149600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INTRODUCTION TO DATABASE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4000" y="136737"/>
            <a:ext cx="8188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</a:rPr>
              <a:t>TRANSACTIONS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00457" y="1066800"/>
            <a:ext cx="8290560" cy="371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 dirty="0" err="1">
                <a:solidFill>
                  <a:srgbClr val="000000"/>
                </a:solidFill>
                <a:latin typeface="Canva Sans Bold"/>
              </a:rPr>
              <a:t>çağrı</a:t>
            </a:r>
            <a:r>
              <a:rPr lang="en-US" sz="2499" spc="12" dirty="0">
                <a:solidFill>
                  <a:srgbClr val="000000"/>
                </a:solidFill>
                <a:latin typeface="Canva Sans Bold"/>
              </a:rPr>
              <a:t>: </a:t>
            </a: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The administrator of the database so, this role has all the privileges.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 dirty="0">
                <a:solidFill>
                  <a:srgbClr val="000000"/>
                </a:solidFill>
                <a:latin typeface="Canva Sans Bold"/>
              </a:rPr>
              <a:t>employee: </a:t>
            </a: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Similar to the role of an administrator, but without the ability to list customers or link customers with products, ensuring customer privacy is maintained.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 spc="12" dirty="0">
                <a:solidFill>
                  <a:srgbClr val="000000"/>
                </a:solidFill>
                <a:latin typeface="Canva Sans Bold"/>
              </a:rPr>
              <a:t>user: </a:t>
            </a:r>
            <a:r>
              <a:rPr lang="en-US" sz="2499" spc="12" dirty="0">
                <a:solidFill>
                  <a:srgbClr val="000000"/>
                </a:solidFill>
                <a:latin typeface="Canva Sans"/>
              </a:rPr>
              <a:t>User can only list the products and update order details.</a:t>
            </a:r>
          </a:p>
        </p:txBody>
      </p:sp>
      <p:sp>
        <p:nvSpPr>
          <p:cNvPr id="9" name="Freeform 9"/>
          <p:cNvSpPr/>
          <p:nvPr/>
        </p:nvSpPr>
        <p:spPr>
          <a:xfrm>
            <a:off x="3490938" y="4428037"/>
            <a:ext cx="2565215" cy="2155643"/>
          </a:xfrm>
          <a:custGeom>
            <a:avLst/>
            <a:gdLst/>
            <a:ahLst/>
            <a:cxnLst/>
            <a:rect l="l" t="t" r="r" b="b"/>
            <a:pathLst>
              <a:path w="2565215" h="2155643">
                <a:moveTo>
                  <a:pt x="0" y="0"/>
                </a:moveTo>
                <a:lnTo>
                  <a:pt x="2565215" y="0"/>
                </a:lnTo>
                <a:lnTo>
                  <a:pt x="2565215" y="2155643"/>
                </a:lnTo>
                <a:lnTo>
                  <a:pt x="0" y="21556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6056153" y="4428037"/>
            <a:ext cx="3215491" cy="760986"/>
          </a:xfrm>
          <a:custGeom>
            <a:avLst/>
            <a:gdLst/>
            <a:ahLst/>
            <a:cxnLst/>
            <a:rect l="l" t="t" r="r" b="b"/>
            <a:pathLst>
              <a:path w="3215491" h="760986">
                <a:moveTo>
                  <a:pt x="0" y="0"/>
                </a:moveTo>
                <a:lnTo>
                  <a:pt x="3215492" y="0"/>
                </a:lnTo>
                <a:lnTo>
                  <a:pt x="3215492" y="760987"/>
                </a:lnTo>
                <a:lnTo>
                  <a:pt x="0" y="760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776" b="-17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6056153" y="5075189"/>
            <a:ext cx="3215491" cy="948753"/>
          </a:xfrm>
          <a:custGeom>
            <a:avLst/>
            <a:gdLst/>
            <a:ahLst/>
            <a:cxnLst/>
            <a:rect l="l" t="t" r="r" b="b"/>
            <a:pathLst>
              <a:path w="3215491" h="948753">
                <a:moveTo>
                  <a:pt x="0" y="0"/>
                </a:moveTo>
                <a:lnTo>
                  <a:pt x="3215492" y="0"/>
                </a:lnTo>
                <a:lnTo>
                  <a:pt x="3215492" y="948753"/>
                </a:lnTo>
                <a:lnTo>
                  <a:pt x="0" y="94875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b="-62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6056153" y="5989540"/>
            <a:ext cx="3215491" cy="794357"/>
          </a:xfrm>
          <a:custGeom>
            <a:avLst/>
            <a:gdLst/>
            <a:ahLst/>
            <a:cxnLst/>
            <a:rect l="l" t="t" r="r" b="b"/>
            <a:pathLst>
              <a:path w="3215491" h="794357">
                <a:moveTo>
                  <a:pt x="0" y="0"/>
                </a:moveTo>
                <a:lnTo>
                  <a:pt x="3215492" y="0"/>
                </a:lnTo>
                <a:lnTo>
                  <a:pt x="3215492" y="794357"/>
                </a:lnTo>
                <a:lnTo>
                  <a:pt x="0" y="79435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3671" b="-176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635760" y="6998853"/>
            <a:ext cx="3710357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41417" y="6997700"/>
            <a:ext cx="3149600" cy="200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INTRODUCTION TO DATABASE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4000" y="136737"/>
            <a:ext cx="8188960" cy="57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FFFFFF"/>
                </a:solidFill>
                <a:latin typeface="Open Sans"/>
              </a:rPr>
              <a:t>PRIVILIGES AND ROLES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0" y="6903720"/>
            <a:ext cx="9763697" cy="416528"/>
          </a:xfrm>
          <a:custGeom>
            <a:avLst/>
            <a:gdLst/>
            <a:ahLst/>
            <a:cxnLst/>
            <a:rect l="l" t="t" r="r" b="b"/>
            <a:pathLst>
              <a:path w="9763697" h="416528">
                <a:moveTo>
                  <a:pt x="0" y="0"/>
                </a:moveTo>
                <a:lnTo>
                  <a:pt x="9763697" y="0"/>
                </a:lnTo>
                <a:lnTo>
                  <a:pt x="9763697" y="416528"/>
                </a:lnTo>
                <a:lnTo>
                  <a:pt x="0" y="416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80" y="6105"/>
            <a:ext cx="9763697" cy="822960"/>
          </a:xfrm>
          <a:custGeom>
            <a:avLst/>
            <a:gdLst/>
            <a:ahLst/>
            <a:cxnLst/>
            <a:rect l="l" t="t" r="r" b="b"/>
            <a:pathLst>
              <a:path w="9763697" h="822960">
                <a:moveTo>
                  <a:pt x="0" y="0"/>
                </a:moveTo>
                <a:lnTo>
                  <a:pt x="9763697" y="0"/>
                </a:lnTo>
                <a:lnTo>
                  <a:pt x="9763697" y="822960"/>
                </a:lnTo>
                <a:lnTo>
                  <a:pt x="0" y="822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87246" y="6258560"/>
            <a:ext cx="1050674" cy="1050674"/>
            <a:chOff x="0" y="0"/>
            <a:chExt cx="1400899" cy="14008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0937" cy="1400937"/>
            </a:xfrm>
            <a:custGeom>
              <a:avLst/>
              <a:gdLst/>
              <a:ahLst/>
              <a:cxnLst/>
              <a:rect l="l" t="t" r="r" b="b"/>
              <a:pathLst>
                <a:path w="1400937" h="1400937">
                  <a:moveTo>
                    <a:pt x="0" y="0"/>
                  </a:moveTo>
                  <a:lnTo>
                    <a:pt x="1400937" y="0"/>
                  </a:lnTo>
                  <a:lnTo>
                    <a:pt x="1400937" y="1400937"/>
                  </a:lnTo>
                  <a:lnTo>
                    <a:pt x="0" y="140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2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34400" y="46885"/>
            <a:ext cx="1184046" cy="741398"/>
            <a:chOff x="0" y="0"/>
            <a:chExt cx="1578728" cy="9885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78737" cy="988568"/>
            </a:xfrm>
            <a:custGeom>
              <a:avLst/>
              <a:gdLst/>
              <a:ahLst/>
              <a:cxnLst/>
              <a:rect l="l" t="t" r="r" b="b"/>
              <a:pathLst>
                <a:path w="1578737" h="988568">
                  <a:moveTo>
                    <a:pt x="0" y="0"/>
                  </a:moveTo>
                  <a:lnTo>
                    <a:pt x="1578737" y="0"/>
                  </a:lnTo>
                  <a:lnTo>
                    <a:pt x="1578737" y="988568"/>
                  </a:lnTo>
                  <a:lnTo>
                    <a:pt x="0" y="988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93" b="-8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35760" y="6998853"/>
            <a:ext cx="3710357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GTU COMPUTER ENGINEERING DEPARTMENT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41417" y="6997700"/>
            <a:ext cx="3149600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4"/>
              </a:lnSpc>
            </a:pPr>
            <a:r>
              <a:rPr lang="en-US" sz="1279">
                <a:solidFill>
                  <a:srgbClr val="FFFFFF"/>
                </a:solidFill>
                <a:latin typeface="Open Sans Bold"/>
              </a:rPr>
              <a:t>CSE 495 GRADUATION PROJECT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4640" y="3475868"/>
            <a:ext cx="9164320" cy="674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8"/>
              </a:lnSpc>
            </a:pPr>
            <a:r>
              <a:rPr lang="en-US" sz="3799" spc="18">
                <a:solidFill>
                  <a:srgbClr val="000000"/>
                </a:solidFill>
                <a:latin typeface="Open Sans Bold"/>
              </a:rPr>
              <a:t>THANK YOU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706</Words>
  <Application>Microsoft Office PowerPoint</Application>
  <PresentationFormat>Custom</PresentationFormat>
  <Paragraphs>260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Tahoma Bold</vt:lpstr>
      <vt:lpstr>Calibri</vt:lpstr>
      <vt:lpstr>Arial</vt:lpstr>
      <vt:lpstr>Open Sans</vt:lpstr>
      <vt:lpstr>Open Sans Bold</vt:lpstr>
      <vt:lpstr>Canva Sans Bold</vt:lpstr>
      <vt:lpstr>Arial Bold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Çağrı Çaycı 1901042629 Graduation Project Preliminary Presentation (2).pptx</dc:title>
  <dc:creator>Çağrı Çaycı</dc:creator>
  <cp:lastModifiedBy>c.cayci21@hotmail.com</cp:lastModifiedBy>
  <cp:revision>6</cp:revision>
  <dcterms:created xsi:type="dcterms:W3CDTF">2006-08-16T00:00:00Z</dcterms:created>
  <dcterms:modified xsi:type="dcterms:W3CDTF">2024-06-14T14:58:04Z</dcterms:modified>
  <dc:identifier>DAF3JLz0v3Y</dc:identifier>
</cp:coreProperties>
</file>